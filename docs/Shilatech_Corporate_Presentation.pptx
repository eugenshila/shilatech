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Presentation based on the checked-in Shilatech application and documentation. This is a capability and deployment-planning overview; it does not claim that production deployment or live payment collection is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 decoding and catalogue fitment filtering are a foundation, not a guarantee of compatibility. README.md says live gateway charges remain disabled until payment provider credentials are configured.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docs/WAREHOUSE_COUNTER_ROLLOUT.md describes shared batch stock, FIFO, reservations, MAIN location restrictions, idempotent counter sales and audit records. Electronic POS payments require independent verification before recording; no automatic gateway charging or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Capability labels are drawn from pages and the website user manual. Do not present this as proof of an operational live deployment or integrated carrier booking.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docs/finance-analysis.md and docs/payroll-v1.md. Payroll v1 does not perform bank/M-Pesa transfers, remittances or payment-status recording. Finance analysis estimates require accountant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Proposed architecture derived from README.md and stakeholder price assumptions. The email/alert setup and off-site backup bucket are deployment budget items, not a claim that these external services are provisioned today. SSL assumed free via host/certificate provider.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See docs/WAREHOUSE_COUNTER_ROLLOUT.md for migration, reconciliation, backup and rollback ordering. Live gateway payment onboarding must be separately completed before charging customers; do not assume it is active.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Inputs supplied by the stakeholder. Tier 1 minima: 150+0+0+1000+0=1150; maxima: 250+650+1950+1500+0=4350. Tier 2 minima: 300+2600+3250+2500+650=9300; maxima: 300+2600+3250+4500+650=11300. Tier 3 minima: 500+6500+9750+6000+1950=24700; maxima: 500+11000+15000+9000+1950=37450. The supplied 38450 upper total did not match its components. Prices are not provider quotes; validate pricing, tax, FX, usage and availability before procurement.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Annual totals are the exact monthly sums times 12: Tier 1 KES 13,800–52,200; Tier 2 KES 111,600–135,600; Tier 3 KES 296,400–449,400. The stakeholder-supplied Tier 3 upper annual estimate KES 460,000 was based on the inconsistent upper monthly total. Domain Tier 2 KES 300/month annualises to KES 3,600, near the stakeholder approximation of KES 3,500/year. Provider prices, tax, USD/KES FX and usage must be checked at procurement.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Budget is based on stakeholder-supplied estimates, not independently validated live provider quotations. The M-Pesa Daraja KES 0 setup/monthly claim is stakeholder-provided; independently verify onboarding eligibility and current Paybill/Till transaction tariff before contracting. Vercel $20≈KES2600, Supabase $25≈KES3250 and off-site bucket $5≈KES650 at an assumed 130 KES/USD; plans and usage may differ. Free SSL assumed. Checkout currently offers payment selection but live gateway charges remain disabled pending official credentials and integration (README.md).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0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58B72A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55448"/>
            <a:ext cx="841248" cy="539496"/>
          </a:xfrm>
          <a:prstGeom prst="rect">
            <a:avLst/>
          </a:prstGeom>
          <a:ln>
            <a:solidFill/>
          </a:ln>
        </p:spPr>
      </p:pic>
      <p:sp>
        <p:nvSpPr>
          <p:cNvPr id="5" name="TextBox 4"/>
          <p:cNvSpPr txBox="1"/>
          <p:nvPr/>
        </p:nvSpPr>
        <p:spPr>
          <a:xfrm>
            <a:off x="1527048" y="347472"/>
            <a:ext cx="36576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SHILATECH  /  AUTO SPARES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393192"/>
            <a:ext cx="324612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THE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786384"/>
            <a:ext cx="11000232" cy="10972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00232" cy="10972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519672"/>
            <a:ext cx="621792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8FA39C"/>
                </a:solidFill>
                <a:latin typeface="Aptos"/>
              </a:defRPr>
            </a:pPr>
            <a:r>
              <a:rPr>
                <a:solidFill/>
              </a:rPr>
              <a:t>CORPORATE PLATFORM OVERVIEW  •  OCT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35640" y="6510528"/>
            <a:ext cx="731520" cy="21031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01 / 13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444752"/>
            <a:ext cx="155448" cy="4041648"/>
          </a:xfrm>
          <a:prstGeom prst="rect">
            <a:avLst/>
          </a:prstGeom>
          <a:solidFill>
            <a:srgbClr val="58B72A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1435608"/>
            <a:ext cx="576072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DIGITAL COMMERCE  /  OPERATIONS  /  GROWTH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1847088"/>
            <a:ext cx="6400800" cy="257860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  <a:defRPr sz="4200" b="1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One platform.</a:t>
            </a:r>
          </a:p>
          <a:p>
            <a:pPr algn="l">
              <a:spcAft>
                <a:spcPts val="0"/>
              </a:spcAft>
              <a:defRPr sz="4200" b="1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Every part of</a:t>
            </a:r>
          </a:p>
          <a:p>
            <a:pPr algn="l">
              <a:spcAft>
                <a:spcPts val="0"/>
              </a:spcAft>
              <a:defRPr sz="4200" b="1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the operation.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818888"/>
            <a:ext cx="5897880" cy="56692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C7D8CF"/>
                </a:solidFill>
                <a:latin typeface="Aptos"/>
              </a:defRPr>
            </a:pPr>
            <a:r>
              <a:rPr>
                <a:solidFill/>
              </a:rPr>
              <a:t>A connected digital foundation for Shilatech Auto Spares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26679" y="1490472"/>
            <a:ext cx="3822191" cy="4261104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243E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28431" y="1773936"/>
            <a:ext cx="320040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THE SHILATECH WEBSITE LOOK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9288" y="2212848"/>
            <a:ext cx="3227832" cy="2240280"/>
          </a:xfrm>
          <a:prstGeom prst="rect">
            <a:avLst/>
          </a:prstGeom>
          <a:ln>
            <a:solidFill/>
          </a:ln>
        </p:spPr>
      </p:pic>
      <p:sp>
        <p:nvSpPr>
          <p:cNvPr id="18" name="Rounded Rectangle 17"/>
          <p:cNvSpPr/>
          <p:nvPr/>
        </p:nvSpPr>
        <p:spPr>
          <a:xfrm>
            <a:off x="8019288" y="4599432"/>
            <a:ext cx="3227832" cy="749808"/>
          </a:xfrm>
          <a:prstGeom prst="roundRect">
            <a:avLst>
              <a:gd name="adj" fmla="val 12000"/>
            </a:avLst>
          </a:prstGeom>
          <a:solidFill>
            <a:srgbClr val="151F1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4809744"/>
            <a:ext cx="277977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BLACK  /  GREEN  /  WHITE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0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55448"/>
            <a:ext cx="841248" cy="539496"/>
          </a:xfrm>
          <a:prstGeom prst="rect">
            <a:avLst/>
          </a:prstGeom>
          <a:ln>
            <a:solidFill/>
          </a:ln>
        </p:spPr>
      </p:pic>
      <p:sp>
        <p:nvSpPr>
          <p:cNvPr id="5" name="TextBox 4"/>
          <p:cNvSpPr txBox="1"/>
          <p:nvPr/>
        </p:nvSpPr>
        <p:spPr>
          <a:xfrm>
            <a:off x="1527048" y="347472"/>
            <a:ext cx="36576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3B36"/>
                </a:solidFill>
                <a:latin typeface="Aptos"/>
              </a:defRPr>
            </a:pPr>
            <a:r>
              <a:rPr>
                <a:solidFill/>
              </a:rPr>
              <a:t>SHILATECH  /  AUTO SPARES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393192"/>
            <a:ext cx="324612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EXECUTIVE 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786384"/>
            <a:ext cx="11000232" cy="10972"/>
          </a:xfrm>
          <a:prstGeom prst="rect">
            <a:avLst/>
          </a:prstGeom>
          <a:solidFill>
            <a:srgbClr val="3B493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00232" cy="10972"/>
          </a:xfrm>
          <a:prstGeom prst="rect">
            <a:avLst/>
          </a:prstGeom>
          <a:solidFill>
            <a:srgbClr val="3B493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519672"/>
            <a:ext cx="621792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CORPORATE PLATFORM OVERVIEW  •  OCT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35640" y="6510528"/>
            <a:ext cx="731520" cy="21031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133B36"/>
                </a:solidFill>
                <a:latin typeface="Aptos"/>
              </a:defRPr>
            </a:pPr>
            <a:r>
              <a:rPr>
                <a:solidFill/>
              </a:rPr>
              <a:t>02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024128"/>
            <a:ext cx="822960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THE OPPORTUNITY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298448"/>
            <a:ext cx="10927080" cy="55778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2900" b="1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Move from separate tasks to one connected workflow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847088"/>
            <a:ext cx="10789920" cy="32918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Make it easier to find parts, transact safely and coordinate the team behind every order.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194560"/>
            <a:ext cx="603504" cy="36576"/>
          </a:xfrm>
          <a:prstGeom prst="rect">
            <a:avLst/>
          </a:prstGeom>
          <a:solidFill>
            <a:srgbClr val="58B72A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2395728"/>
            <a:ext cx="3502152" cy="2962656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3B4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2606040"/>
            <a:ext cx="530352" cy="38404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21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3200400"/>
            <a:ext cx="3063240" cy="3931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Find the right part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3666744"/>
            <a:ext cx="3063240" cy="147218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Catalogue search, vehicle brands, VIN lookup foundation and customer accounts give buyers a clearer path to purchase.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2395728"/>
            <a:ext cx="3502152" cy="2962656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3B4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2856" y="2606040"/>
            <a:ext cx="530352" cy="38404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21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2856" y="3200400"/>
            <a:ext cx="3063240" cy="3931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Sell with stock visibility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2856" y="3666744"/>
            <a:ext cx="3063240" cy="147218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Online checkout and the staff sales counter use shared inventory controls, reducing avoidable overselling.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2395728"/>
            <a:ext cx="3502152" cy="2962656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3B4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66176" y="2606040"/>
            <a:ext cx="530352" cy="38404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21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6" y="3200400"/>
            <a:ext cx="3063240" cy="3931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Run the operation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66176" y="3666744"/>
            <a:ext cx="3063240" cy="147218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Warehouse, delivery, staff, finance and management views bring the day-to-day workflow into one system.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669280"/>
            <a:ext cx="10908792" cy="438912"/>
          </a:xfrm>
          <a:prstGeom prst="roundRect">
            <a:avLst>
              <a:gd name="adj" fmla="val 12000"/>
            </a:avLst>
          </a:prstGeom>
          <a:solidFill>
            <a:srgbClr val="15191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5760720"/>
            <a:ext cx="987552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33B36"/>
                </a:solidFill>
                <a:latin typeface="Aptos"/>
              </a:defRPr>
            </a:pPr>
            <a:r>
              <a:rPr>
                <a:solidFill/>
              </a:rPr>
              <a:t>POSITIONING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47088" y="5742432"/>
            <a:ext cx="923544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Custom-owned software  •  modular rollout  •  no recurring software licence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0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55448"/>
            <a:ext cx="841248" cy="539496"/>
          </a:xfrm>
          <a:prstGeom prst="rect">
            <a:avLst/>
          </a:prstGeom>
          <a:ln>
            <a:solidFill/>
          </a:ln>
        </p:spPr>
      </p:pic>
      <p:sp>
        <p:nvSpPr>
          <p:cNvPr id="5" name="TextBox 4"/>
          <p:cNvSpPr txBox="1"/>
          <p:nvPr/>
        </p:nvSpPr>
        <p:spPr>
          <a:xfrm>
            <a:off x="1527048" y="347472"/>
            <a:ext cx="36576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3B36"/>
                </a:solidFill>
                <a:latin typeface="Aptos"/>
              </a:defRPr>
            </a:pPr>
            <a:r>
              <a:rPr>
                <a:solidFill/>
              </a:rPr>
              <a:t>SHILATECH  /  AUTO SPARES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393192"/>
            <a:ext cx="324612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CUSTOMER EXPERIENCE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786384"/>
            <a:ext cx="11000232" cy="10972"/>
          </a:xfrm>
          <a:prstGeom prst="rect">
            <a:avLst/>
          </a:prstGeom>
          <a:solidFill>
            <a:srgbClr val="3B493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00232" cy="10972"/>
          </a:xfrm>
          <a:prstGeom prst="rect">
            <a:avLst/>
          </a:prstGeom>
          <a:solidFill>
            <a:srgbClr val="3B493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519672"/>
            <a:ext cx="621792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CORPORATE PLATFORM OVERVIEW  •  OCT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35640" y="6510528"/>
            <a:ext cx="731520" cy="21031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133B36"/>
                </a:solidFill>
                <a:latin typeface="Aptos"/>
              </a:defRPr>
            </a:pPr>
            <a:r>
              <a:rPr>
                <a:solidFill/>
              </a:rPr>
              <a:t>03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024128"/>
            <a:ext cx="822960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FROM SEARCH TO SERVICE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298448"/>
            <a:ext cx="10927080" cy="55778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2900" b="1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A simpler path from vehicle to part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847088"/>
            <a:ext cx="10789920" cy="32918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The public website is designed around the questions a customer asks before and after checkout.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194560"/>
            <a:ext cx="603504" cy="36576"/>
          </a:xfrm>
          <a:prstGeom prst="rect">
            <a:avLst/>
          </a:prstGeom>
          <a:solidFill>
            <a:srgbClr val="58B72A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936" y="2523744"/>
            <a:ext cx="2029968" cy="2596896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3B4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" y="2523744"/>
            <a:ext cx="2029968" cy="73152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5" y="2788920"/>
            <a:ext cx="685800" cy="42062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24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3383280"/>
            <a:ext cx="1700784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DISCOVER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3749039"/>
            <a:ext cx="1673352" cy="10789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Browse brands, categories and featured parts.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3472" y="3419856"/>
            <a:ext cx="256032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52928" y="2523744"/>
            <a:ext cx="2029968" cy="2596896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3B4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852928" y="2523744"/>
            <a:ext cx="2029968" cy="73152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35808" y="2788920"/>
            <a:ext cx="685800" cy="42062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24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26664" y="3383280"/>
            <a:ext cx="1700784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26664" y="3749039"/>
            <a:ext cx="1673352" cy="10789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Search by part or use VIN lookup as a fitment aid.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55464" y="3419856"/>
            <a:ext cx="256032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74920" y="2523744"/>
            <a:ext cx="2029968" cy="2596896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3B4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74920" y="2523744"/>
            <a:ext cx="2029968" cy="73152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57800" y="2788920"/>
            <a:ext cx="685800" cy="42062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24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48656" y="3383280"/>
            <a:ext cx="1700784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CHOOSE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48656" y="3749039"/>
            <a:ext cx="1673352" cy="10789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Review product details, cart and delivery options.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77456" y="3419856"/>
            <a:ext cx="256032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96912" y="2523744"/>
            <a:ext cx="2029968" cy="2596896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3B4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96912" y="2523744"/>
            <a:ext cx="2029968" cy="73152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79792" y="2788920"/>
            <a:ext cx="685800" cy="42062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24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70648" y="3383280"/>
            <a:ext cx="1700784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ORDER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70648" y="3749039"/>
            <a:ext cx="1673352" cy="10789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Submit checkout with the selected payment method.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99448" y="3419856"/>
            <a:ext cx="256032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518904" y="2523744"/>
            <a:ext cx="2029968" cy="2596896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3B4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518904" y="2523744"/>
            <a:ext cx="2029968" cy="73152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01784" y="2788920"/>
            <a:ext cx="685800" cy="42062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24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92640" y="3383280"/>
            <a:ext cx="1700784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RETURN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3749039"/>
            <a:ext cx="1673352" cy="10789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Use account, workshop and support journeys.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0936" y="5504688"/>
            <a:ext cx="10917936" cy="475488"/>
          </a:xfrm>
          <a:prstGeom prst="roundRect">
            <a:avLst>
              <a:gd name="adj" fmla="val 12000"/>
            </a:avLst>
          </a:prstGeom>
          <a:solidFill>
            <a:srgbClr val="15191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7824" y="5605272"/>
            <a:ext cx="10424160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3B36"/>
                </a:solidFill>
                <a:latin typeface="Aptos"/>
              </a:defRPr>
            </a:pPr>
            <a:r>
              <a:rPr>
                <a:solidFill/>
              </a:rPr>
              <a:t>PAYMENT STATUS  •  Checkout methods are selectable; live gateway charging needs provider credentials and integration.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0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55448"/>
            <a:ext cx="841248" cy="539496"/>
          </a:xfrm>
          <a:prstGeom prst="rect">
            <a:avLst/>
          </a:prstGeom>
          <a:ln>
            <a:solidFill/>
          </a:ln>
        </p:spPr>
      </p:pic>
      <p:sp>
        <p:nvSpPr>
          <p:cNvPr id="5" name="TextBox 4"/>
          <p:cNvSpPr txBox="1"/>
          <p:nvPr/>
        </p:nvSpPr>
        <p:spPr>
          <a:xfrm>
            <a:off x="1527048" y="347472"/>
            <a:ext cx="36576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3B36"/>
                </a:solidFill>
                <a:latin typeface="Aptos"/>
              </a:defRPr>
            </a:pPr>
            <a:r>
              <a:rPr>
                <a:solidFill/>
              </a:rPr>
              <a:t>SHILATECH  /  AUTO SPARES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393192"/>
            <a:ext cx="324612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PLATFORM 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786384"/>
            <a:ext cx="11000232" cy="10972"/>
          </a:xfrm>
          <a:prstGeom prst="rect">
            <a:avLst/>
          </a:prstGeom>
          <a:solidFill>
            <a:srgbClr val="3B493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00232" cy="10972"/>
          </a:xfrm>
          <a:prstGeom prst="rect">
            <a:avLst/>
          </a:prstGeom>
          <a:solidFill>
            <a:srgbClr val="3B493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519672"/>
            <a:ext cx="621792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CORPORATE PLATFORM OVERVIEW  •  OCT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35640" y="6510528"/>
            <a:ext cx="731520" cy="21031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133B36"/>
                </a:solidFill>
                <a:latin typeface="Aptos"/>
              </a:defRPr>
            </a:pPr>
            <a:r>
              <a:rPr>
                <a:solidFill/>
              </a:rPr>
              <a:t>04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024128"/>
            <a:ext cx="822960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ONE CONNECTED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298448"/>
            <a:ext cx="10927080" cy="55778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2900" b="1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Two experiences. One operational backbone.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847088"/>
            <a:ext cx="10789920" cy="32918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Customers see a focused storefront; staff see role-specific workspaces connected to the same data.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194560"/>
            <a:ext cx="603504" cy="36576"/>
          </a:xfrm>
          <a:prstGeom prst="rect">
            <a:avLst/>
          </a:prstGeom>
          <a:solidFill>
            <a:srgbClr val="58B72A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2414016"/>
            <a:ext cx="5358384" cy="3584448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3B4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414016"/>
            <a:ext cx="5358384" cy="91440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734056"/>
            <a:ext cx="448056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CUSTOMER SIDE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081528"/>
            <a:ext cx="4754880" cy="35661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Find, decide and request service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" y="3813048"/>
            <a:ext cx="109728" cy="109728"/>
          </a:xfrm>
          <a:prstGeom prst="rect">
            <a:avLst/>
          </a:prstGeom>
          <a:solidFill>
            <a:srgbClr val="58B72A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3657600"/>
            <a:ext cx="4471416" cy="4023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Product catalogue &amp; brand filters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" y="4325112"/>
            <a:ext cx="109728" cy="109728"/>
          </a:xfrm>
          <a:prstGeom prst="rect">
            <a:avLst/>
          </a:prstGeom>
          <a:solidFill>
            <a:srgbClr val="58B72A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97864" y="4169664"/>
            <a:ext cx="4471416" cy="4023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VIN lookup &amp; My Garage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3544" y="4837176"/>
            <a:ext cx="109728" cy="109728"/>
          </a:xfrm>
          <a:prstGeom prst="rect">
            <a:avLst/>
          </a:prstGeom>
          <a:solidFill>
            <a:srgbClr val="58B72A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97864" y="4681728"/>
            <a:ext cx="4471416" cy="4023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Cart, checkout &amp; account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" y="5349240"/>
            <a:ext cx="109728" cy="109728"/>
          </a:xfrm>
          <a:prstGeom prst="rect">
            <a:avLst/>
          </a:prstGeom>
          <a:solidFill>
            <a:srgbClr val="58B72A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97864" y="5193792"/>
            <a:ext cx="4471416" cy="4023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Workshop, contact &amp; support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0488" y="2414016"/>
            <a:ext cx="5358384" cy="3584448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3B4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0488" y="2414016"/>
            <a:ext cx="5358384" cy="91440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7" y="2734056"/>
            <a:ext cx="448056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STAFF SIDE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4807" y="3081528"/>
            <a:ext cx="4754880" cy="35661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Receive, sell and fulfil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73951" y="3813048"/>
            <a:ext cx="109728" cy="109728"/>
          </a:xfrm>
          <a:prstGeom prst="rect">
            <a:avLst/>
          </a:prstGeom>
          <a:solidFill>
            <a:srgbClr val="58B72A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48272" y="3657600"/>
            <a:ext cx="4471416" cy="4023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Warehouse &amp; barcode workflows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73951" y="4325112"/>
            <a:ext cx="109728" cy="109728"/>
          </a:xfrm>
          <a:prstGeom prst="rect">
            <a:avLst/>
          </a:prstGeom>
          <a:solidFill>
            <a:srgbClr val="58B72A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48272" y="4169664"/>
            <a:ext cx="4471416" cy="4023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Counter POS &amp; order handling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73951" y="4837176"/>
            <a:ext cx="109728" cy="109728"/>
          </a:xfrm>
          <a:prstGeom prst="rect">
            <a:avLst/>
          </a:prstGeom>
          <a:solidFill>
            <a:srgbClr val="58B72A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48272" y="4681728"/>
            <a:ext cx="4471416" cy="4023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Delivery, garage &amp; approvals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73951" y="5349240"/>
            <a:ext cx="109728" cy="109728"/>
          </a:xfrm>
          <a:prstGeom prst="rect">
            <a:avLst/>
          </a:prstGeom>
          <a:solidFill>
            <a:srgbClr val="58B72A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48272" y="5193792"/>
            <a:ext cx="4471416" cy="4023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Finance, HR &amp; management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0" y="3931920"/>
            <a:ext cx="502920" cy="502920"/>
          </a:xfrm>
          <a:prstGeom prst="roundRect">
            <a:avLst>
              <a:gd name="adj" fmla="val 12000"/>
            </a:avLst>
          </a:prstGeom>
          <a:solidFill>
            <a:srgbClr val="58B72A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71032" y="4005072"/>
            <a:ext cx="429768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33B36"/>
                </a:solidFill>
                <a:latin typeface="Aptos"/>
              </a:defRPr>
            </a:pPr>
            <a:r>
              <a:rPr>
                <a:solidFill/>
              </a:rPr>
              <a:t>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0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58B72A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55448"/>
            <a:ext cx="841248" cy="539496"/>
          </a:xfrm>
          <a:prstGeom prst="rect">
            <a:avLst/>
          </a:prstGeom>
          <a:ln>
            <a:solidFill/>
          </a:ln>
        </p:spPr>
      </p:pic>
      <p:sp>
        <p:nvSpPr>
          <p:cNvPr id="5" name="TextBox 4"/>
          <p:cNvSpPr txBox="1"/>
          <p:nvPr/>
        </p:nvSpPr>
        <p:spPr>
          <a:xfrm>
            <a:off x="1527048" y="347472"/>
            <a:ext cx="36576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SHILATECH  /  AUTO SPARES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393192"/>
            <a:ext cx="324612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INVENTORY &amp; SALES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786384"/>
            <a:ext cx="11000232" cy="10972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00232" cy="10972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519672"/>
            <a:ext cx="621792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8FA39C"/>
                </a:solidFill>
                <a:latin typeface="Aptos"/>
              </a:defRPr>
            </a:pPr>
            <a:r>
              <a:rPr>
                <a:solidFill/>
              </a:rPr>
              <a:t>CORPORATE PLATFORM OVERVIEW  •  OCT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35640" y="6510528"/>
            <a:ext cx="731520" cy="21031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05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024128"/>
            <a:ext cx="822960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THE OPERATIONAL 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298448"/>
            <a:ext cx="10927080" cy="55778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2900" b="1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Stock discipline across two sales channels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847088"/>
            <a:ext cx="10789920" cy="32918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B5C6BF"/>
                </a:solidFill>
                <a:latin typeface="Aptos"/>
              </a:defRPr>
            </a:pPr>
            <a:r>
              <a:rPr>
                <a:solidFill/>
              </a:rPr>
              <a:t>Batch-based receiving and shared availability connect warehouse activity to online and counter sales.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194560"/>
            <a:ext cx="603504" cy="36576"/>
          </a:xfrm>
          <a:prstGeom prst="rect">
            <a:avLst/>
          </a:prstGeom>
          <a:solidFill>
            <a:srgbClr val="58B72A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2532888"/>
            <a:ext cx="2542032" cy="1993392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243E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2715768"/>
            <a:ext cx="502920" cy="3931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" y="3209544"/>
            <a:ext cx="2084831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RECEIVE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" y="3557016"/>
            <a:ext cx="2103120" cy="72237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Log inbound batches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and purchase costs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3255264"/>
            <a:ext cx="265176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01568" y="2532888"/>
            <a:ext cx="2542032" cy="1993392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243E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2736" y="2715768"/>
            <a:ext cx="502920" cy="3931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02736" y="3209544"/>
            <a:ext cx="2084831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2736" y="3557016"/>
            <a:ext cx="2103120" cy="72237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Reconcile sellable stock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and online reservations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16168" y="3255264"/>
            <a:ext cx="265176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63056" y="2532888"/>
            <a:ext cx="2542032" cy="1993392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243E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2715768"/>
            <a:ext cx="502920" cy="3931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4224" y="3209544"/>
            <a:ext cx="2084831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4224" y="3557016"/>
            <a:ext cx="2103120" cy="72237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Online order or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counter POS sale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77656" y="3255264"/>
            <a:ext cx="265176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24544" y="2532888"/>
            <a:ext cx="2542032" cy="1993392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243E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25712" y="2715768"/>
            <a:ext cx="502920" cy="3931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25712" y="3209544"/>
            <a:ext cx="2084831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TRACE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5712" y="3557016"/>
            <a:ext cx="2103120" cy="72237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Record movement,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receipt and audit trail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4910328"/>
            <a:ext cx="10908792" cy="1033271"/>
          </a:xfrm>
          <a:prstGeom prst="roundRect">
            <a:avLst>
              <a:gd name="adj" fmla="val 12000"/>
            </a:avLst>
          </a:prstGeom>
          <a:solidFill>
            <a:srgbClr val="151915"/>
          </a:solidFill>
          <a:ln w="12700">
            <a:solidFill>
              <a:srgbClr val="243E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112" y="5111496"/>
            <a:ext cx="201168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CURRENT BOUNDARY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62072" y="5056632"/>
            <a:ext cx="8302752" cy="53949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MAIN location is the active sales location; multi-branch transfers are a future phase, not a current capability.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0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55448"/>
            <a:ext cx="841248" cy="539496"/>
          </a:xfrm>
          <a:prstGeom prst="rect">
            <a:avLst/>
          </a:prstGeom>
          <a:ln>
            <a:solidFill/>
          </a:ln>
        </p:spPr>
      </p:pic>
      <p:sp>
        <p:nvSpPr>
          <p:cNvPr id="5" name="TextBox 4"/>
          <p:cNvSpPr txBox="1"/>
          <p:nvPr/>
        </p:nvSpPr>
        <p:spPr>
          <a:xfrm>
            <a:off x="1527048" y="347472"/>
            <a:ext cx="36576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3B36"/>
                </a:solidFill>
                <a:latin typeface="Aptos"/>
              </a:defRPr>
            </a:pPr>
            <a:r>
              <a:rPr>
                <a:solidFill/>
              </a:rPr>
              <a:t>SHILATECH  /  AUTO SPARES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393192"/>
            <a:ext cx="324612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SERVICE OPERATIONS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786384"/>
            <a:ext cx="11000232" cy="10972"/>
          </a:xfrm>
          <a:prstGeom prst="rect">
            <a:avLst/>
          </a:prstGeom>
          <a:solidFill>
            <a:srgbClr val="3B493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00232" cy="10972"/>
          </a:xfrm>
          <a:prstGeom prst="rect">
            <a:avLst/>
          </a:prstGeom>
          <a:solidFill>
            <a:srgbClr val="3B493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519672"/>
            <a:ext cx="621792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CORPORATE PLATFORM OVERVIEW  •  OCT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35640" y="6510528"/>
            <a:ext cx="731520" cy="21031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133B36"/>
                </a:solidFill>
                <a:latin typeface="Aptos"/>
              </a:defRPr>
            </a:pPr>
            <a:r>
              <a:rPr>
                <a:solidFill/>
              </a:rPr>
              <a:t>06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024128"/>
            <a:ext cx="822960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AFTER THE SALE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298448"/>
            <a:ext cx="10927080" cy="55778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2900" b="1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Turn an order into a coordinated handoff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847088"/>
            <a:ext cx="10789920" cy="32918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Operational workspaces give teams a place to track the next action—not only the initial transaction.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194560"/>
            <a:ext cx="603504" cy="36576"/>
          </a:xfrm>
          <a:prstGeom prst="rect">
            <a:avLst/>
          </a:prstGeom>
          <a:solidFill>
            <a:srgbClr val="58B72A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2395728"/>
            <a:ext cx="5349240" cy="1627632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3B4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2103" y="2670048"/>
            <a:ext cx="621792" cy="621792"/>
          </a:xfrm>
          <a:prstGeom prst="roundRect">
            <a:avLst>
              <a:gd name="adj" fmla="val 12000"/>
            </a:avLst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" y="2816352"/>
            <a:ext cx="457200" cy="23774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2660904"/>
            <a:ext cx="4005072" cy="37490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Order handling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3127248"/>
            <a:ext cx="3913632" cy="6217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Staff review order details and progress warehouse picking.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2395728"/>
            <a:ext cx="5349240" cy="1627632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3B4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91656" y="2670048"/>
            <a:ext cx="621792" cy="621792"/>
          </a:xfrm>
          <a:prstGeom prst="roundRect">
            <a:avLst>
              <a:gd name="adj" fmla="val 12000"/>
            </a:avLst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4808" y="2816352"/>
            <a:ext cx="457200" cy="23774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2660904"/>
            <a:ext cx="4005072" cy="37490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Delivery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3127248"/>
            <a:ext cx="3913632" cy="6217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Delivery views help manage fulfilment and completion.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79392"/>
            <a:ext cx="5349240" cy="1627632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3B4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2103" y="4553712"/>
            <a:ext cx="621792" cy="621792"/>
          </a:xfrm>
          <a:prstGeom prst="roundRect">
            <a:avLst>
              <a:gd name="adj" fmla="val 12000"/>
            </a:avLst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" y="4700016"/>
            <a:ext cx="457200" cy="23774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4208" y="4544568"/>
            <a:ext cx="4005072" cy="37490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Garage &amp; workshop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64208" y="5010912"/>
            <a:ext cx="3913632" cy="6217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Service requests and garage jobs sit alongside parts activity.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4279392"/>
            <a:ext cx="5349240" cy="1627632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3B4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391656" y="4553712"/>
            <a:ext cx="621792" cy="621792"/>
          </a:xfrm>
          <a:prstGeom prst="roundRect">
            <a:avLst>
              <a:gd name="adj" fmla="val 12000"/>
            </a:avLst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8" y="4700016"/>
            <a:ext cx="457200" cy="23774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4544568"/>
            <a:ext cx="4005072" cy="37490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Returns &amp; exceptions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5010912"/>
            <a:ext cx="3913632" cy="6217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Returns and approvals create visible review points for exceptions.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0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55448"/>
            <a:ext cx="841248" cy="539496"/>
          </a:xfrm>
          <a:prstGeom prst="rect">
            <a:avLst/>
          </a:prstGeom>
          <a:ln>
            <a:solidFill/>
          </a:ln>
        </p:spPr>
      </p:pic>
      <p:sp>
        <p:nvSpPr>
          <p:cNvPr id="5" name="TextBox 4"/>
          <p:cNvSpPr txBox="1"/>
          <p:nvPr/>
        </p:nvSpPr>
        <p:spPr>
          <a:xfrm>
            <a:off x="1527048" y="347472"/>
            <a:ext cx="36576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3B36"/>
                </a:solidFill>
                <a:latin typeface="Aptos"/>
              </a:defRPr>
            </a:pPr>
            <a:r>
              <a:rPr>
                <a:solidFill/>
              </a:rPr>
              <a:t>SHILATECH  /  AUTO SPARES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393192"/>
            <a:ext cx="324612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BUSINESS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786384"/>
            <a:ext cx="11000232" cy="10972"/>
          </a:xfrm>
          <a:prstGeom prst="rect">
            <a:avLst/>
          </a:prstGeom>
          <a:solidFill>
            <a:srgbClr val="3B493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00232" cy="10972"/>
          </a:xfrm>
          <a:prstGeom prst="rect">
            <a:avLst/>
          </a:prstGeom>
          <a:solidFill>
            <a:srgbClr val="3B493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519672"/>
            <a:ext cx="621792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CORPORATE PLATFORM OVERVIEW  •  OCT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35640" y="6510528"/>
            <a:ext cx="731520" cy="21031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133B36"/>
                </a:solidFill>
                <a:latin typeface="Aptos"/>
              </a:defRPr>
            </a:pPr>
            <a:r>
              <a:rPr>
                <a:solidFill/>
              </a:rPr>
              <a:t>07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024128"/>
            <a:ext cx="822960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MANAGEMENT 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298448"/>
            <a:ext cx="10927080" cy="55778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2900" b="1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Finance, people and approvals in one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847088"/>
            <a:ext cx="10789920" cy="32918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Role-specific workspaces help managers follow the numbers and the decisions behind them.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194560"/>
            <a:ext cx="603504" cy="36576"/>
          </a:xfrm>
          <a:prstGeom prst="rect">
            <a:avLst/>
          </a:prstGeom>
          <a:solidFill>
            <a:srgbClr val="58B72A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2377440"/>
            <a:ext cx="3502152" cy="2880360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3B4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2587752"/>
            <a:ext cx="530352" cy="38404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21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3182112"/>
            <a:ext cx="3063240" cy="3931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Finance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3648456"/>
            <a:ext cx="3063240" cy="1389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Receivables, recorded POS and invoice activity, and analysis of recorded costs and approved liabilities.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2377440"/>
            <a:ext cx="3502152" cy="2880360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3B4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2856" y="2587752"/>
            <a:ext cx="530352" cy="38404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21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2856" y="3182112"/>
            <a:ext cx="3063240" cy="3931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People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2856" y="3648456"/>
            <a:ext cx="3063240" cy="1389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HR records and a Kenya payroll preparation module with review and approval steps.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2377440"/>
            <a:ext cx="3502152" cy="2880360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3B4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66176" y="2587752"/>
            <a:ext cx="530352" cy="38404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21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6" y="3182112"/>
            <a:ext cx="3063240" cy="3931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Governance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66176" y="3648456"/>
            <a:ext cx="3063240" cy="1389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Manager and administrator views, staff roles and approval checkpoints for controlled operations.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513832"/>
            <a:ext cx="10908792" cy="484632"/>
          </a:xfrm>
          <a:prstGeom prst="roundRect">
            <a:avLst>
              <a:gd name="adj" fmla="val 12000"/>
            </a:avLst>
          </a:prstGeom>
          <a:solidFill>
            <a:srgbClr val="15191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5614416"/>
            <a:ext cx="10378440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3B36"/>
                </a:solidFill>
                <a:latin typeface="Aptos"/>
              </a:defRPr>
            </a:pPr>
            <a:r>
              <a:rPr>
                <a:solidFill/>
              </a:rPr>
              <a:t>BOUNDARY  •  Payroll is calculation and approval preparation; it does not send salaries or file statutory returns.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0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58B72A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55448"/>
            <a:ext cx="841248" cy="539496"/>
          </a:xfrm>
          <a:prstGeom prst="rect">
            <a:avLst/>
          </a:prstGeom>
          <a:ln>
            <a:solidFill/>
          </a:ln>
        </p:spPr>
      </p:pic>
      <p:sp>
        <p:nvSpPr>
          <p:cNvPr id="5" name="TextBox 4"/>
          <p:cNvSpPr txBox="1"/>
          <p:nvPr/>
        </p:nvSpPr>
        <p:spPr>
          <a:xfrm>
            <a:off x="1527048" y="347472"/>
            <a:ext cx="36576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SHILATECH  /  AUTO SPARES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393192"/>
            <a:ext cx="324612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CONTROLS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786384"/>
            <a:ext cx="11000232" cy="10972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00232" cy="10972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519672"/>
            <a:ext cx="621792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8FA39C"/>
                </a:solidFill>
                <a:latin typeface="Aptos"/>
              </a:defRPr>
            </a:pPr>
            <a:r>
              <a:rPr>
                <a:solidFill/>
              </a:rPr>
              <a:t>CORPORATE PLATFORM OVERVIEW  •  OCT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35640" y="6510528"/>
            <a:ext cx="731520" cy="21031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08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024128"/>
            <a:ext cx="822960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BUILT FOR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298448"/>
            <a:ext cx="10927080" cy="55778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2900" b="1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Operational safeguards worth preserving at launch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847088"/>
            <a:ext cx="10789920" cy="32918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B5C6BF"/>
                </a:solidFill>
                <a:latin typeface="Aptos"/>
              </a:defRPr>
            </a:pPr>
            <a:r>
              <a:rPr>
                <a:solidFill/>
              </a:rPr>
              <a:t>A controlled go-live is as important as the software itself.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194560"/>
            <a:ext cx="603504" cy="36576"/>
          </a:xfrm>
          <a:prstGeom prst="rect">
            <a:avLst/>
          </a:prstGeom>
          <a:solidFill>
            <a:srgbClr val="58B72A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2386584"/>
            <a:ext cx="5358384" cy="1353312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243E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2587752"/>
            <a:ext cx="530352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0472" y="2551176"/>
            <a:ext cx="4160520" cy="3931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Access by role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0472" y="3026663"/>
            <a:ext cx="4187952" cy="50292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CEDBD4"/>
                </a:solidFill>
                <a:latin typeface="Aptos"/>
              </a:defRPr>
            </a:pPr>
            <a:r>
              <a:rPr>
                <a:solidFill/>
              </a:rPr>
              <a:t>Staff routes and actions check the signed-in user and permissions.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2386584"/>
            <a:ext cx="5358384" cy="1353312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243E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2587752"/>
            <a:ext cx="530352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0024" y="2551176"/>
            <a:ext cx="4160520" cy="3931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Stock integrity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0024" y="3026663"/>
            <a:ext cx="4187952" cy="50292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CEDBD4"/>
                </a:solidFill>
                <a:latin typeface="Aptos"/>
              </a:defRPr>
            </a:pPr>
            <a:r>
              <a:rPr>
                <a:solidFill/>
              </a:rPr>
              <a:t>Batch movement, reservations and discrepancy checks protect availability.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977639"/>
            <a:ext cx="5358384" cy="1353312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243E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4178807"/>
            <a:ext cx="530352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90472" y="4142231"/>
            <a:ext cx="4160520" cy="3931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Repeat-safe sales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0472" y="4617720"/>
            <a:ext cx="4187952" cy="50292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CEDBD4"/>
                </a:solidFill>
                <a:latin typeface="Aptos"/>
              </a:defRPr>
            </a:pPr>
            <a:r>
              <a:rPr>
                <a:solidFill/>
              </a:rPr>
              <a:t>Counter retries use request keys to avoid duplicate committed sales.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9632" y="3977639"/>
            <a:ext cx="5358384" cy="1353312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243E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2512" y="4178807"/>
            <a:ext cx="530352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0024" y="4142231"/>
            <a:ext cx="4160520" cy="3931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Reviewable actions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50024" y="4617720"/>
            <a:ext cx="4187952" cy="50292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CEDBD4"/>
                </a:solidFill>
                <a:latin typeface="Aptos"/>
              </a:defRPr>
            </a:pPr>
            <a:r>
              <a:rPr>
                <a:solidFill/>
              </a:rPr>
              <a:t>Approval steps and audit records make important changes traceable.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742432"/>
            <a:ext cx="10908792" cy="384048"/>
          </a:xfrm>
          <a:prstGeom prst="roundRect">
            <a:avLst>
              <a:gd name="adj" fmla="val 12000"/>
            </a:avLst>
          </a:prstGeom>
          <a:solidFill>
            <a:srgbClr val="15191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5824728"/>
            <a:ext cx="10405872" cy="21031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GO-LIVE REQUIREMENT  •  Verify backup restore, payment handling and simultaneous sales on staging before opening.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0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55448"/>
            <a:ext cx="841248" cy="539496"/>
          </a:xfrm>
          <a:prstGeom prst="rect">
            <a:avLst/>
          </a:prstGeom>
          <a:ln>
            <a:solidFill/>
          </a:ln>
        </p:spPr>
      </p:pic>
      <p:sp>
        <p:nvSpPr>
          <p:cNvPr id="5" name="TextBox 4"/>
          <p:cNvSpPr txBox="1"/>
          <p:nvPr/>
        </p:nvSpPr>
        <p:spPr>
          <a:xfrm>
            <a:off x="1527048" y="347472"/>
            <a:ext cx="36576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3B36"/>
                </a:solidFill>
                <a:latin typeface="Aptos"/>
              </a:defRPr>
            </a:pPr>
            <a:r>
              <a:rPr>
                <a:solidFill/>
              </a:rPr>
              <a:t>SHILATECH  /  AUTO SPARES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393192"/>
            <a:ext cx="324612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DEPLOYMENT BLUEPRINT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786384"/>
            <a:ext cx="11000232" cy="10972"/>
          </a:xfrm>
          <a:prstGeom prst="rect">
            <a:avLst/>
          </a:prstGeom>
          <a:solidFill>
            <a:srgbClr val="3B493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00232" cy="10972"/>
          </a:xfrm>
          <a:prstGeom prst="rect">
            <a:avLst/>
          </a:prstGeom>
          <a:solidFill>
            <a:srgbClr val="3B493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519672"/>
            <a:ext cx="621792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CORPORATE PLATFORM OVERVIEW  •  OCT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35640" y="6510528"/>
            <a:ext cx="731520" cy="21031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133B36"/>
                </a:solidFill>
                <a:latin typeface="Aptos"/>
              </a:defRPr>
            </a:pPr>
            <a:r>
              <a:rPr>
                <a:solidFill/>
              </a:rPr>
              <a:t>09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024128"/>
            <a:ext cx="822960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PUTTING IT 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298448"/>
            <a:ext cx="10927080" cy="55778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2900" b="1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A practical production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847088"/>
            <a:ext cx="10789920" cy="32918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Proposed service layout for a managed, browser-accessible launch.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194560"/>
            <a:ext cx="603504" cy="36576"/>
          </a:xfrm>
          <a:prstGeom prst="rect">
            <a:avLst/>
          </a:prstGeom>
          <a:solidFill>
            <a:srgbClr val="58B72A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2496312"/>
            <a:ext cx="10908792" cy="667512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3B4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496312"/>
            <a:ext cx="73152" cy="667512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660904"/>
            <a:ext cx="521207" cy="32918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0472" y="2651760"/>
            <a:ext cx="2926080" cy="33832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CUSTOMER &amp; STAFF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2660904"/>
            <a:ext cx="6272784" cy="32004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Web browsers  •  domain  •  free SSL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319272"/>
            <a:ext cx="10908792" cy="667512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3B4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3319272"/>
            <a:ext cx="73152" cy="667512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83864"/>
            <a:ext cx="521207" cy="32918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90472" y="3474720"/>
            <a:ext cx="2926080" cy="33832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APPLICATION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3483864"/>
            <a:ext cx="6272784" cy="32004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Next.js app  •  Vercel or Railway hosting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142232"/>
            <a:ext cx="10908792" cy="667512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3B4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142232"/>
            <a:ext cx="73152" cy="667512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306824"/>
            <a:ext cx="521207" cy="32918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90472" y="4297680"/>
            <a:ext cx="2926080" cy="33832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9160" y="4306824"/>
            <a:ext cx="6272784" cy="32004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Managed PostgreSQL  •  Supabase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965192"/>
            <a:ext cx="10908792" cy="667512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3B4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4965192"/>
            <a:ext cx="73152" cy="667512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129783"/>
            <a:ext cx="521207" cy="32918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90472" y="5120640"/>
            <a:ext cx="2926080" cy="33832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RESILIENCE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9160" y="5129783"/>
            <a:ext cx="6272784" cy="32004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Email / alerts  •  encrypted off-site backup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0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55448"/>
            <a:ext cx="841248" cy="539496"/>
          </a:xfrm>
          <a:prstGeom prst="rect">
            <a:avLst/>
          </a:prstGeom>
          <a:ln>
            <a:solidFill/>
          </a:ln>
        </p:spPr>
      </p:pic>
      <p:sp>
        <p:nvSpPr>
          <p:cNvPr id="5" name="TextBox 4"/>
          <p:cNvSpPr txBox="1"/>
          <p:nvPr/>
        </p:nvSpPr>
        <p:spPr>
          <a:xfrm>
            <a:off x="1527048" y="347472"/>
            <a:ext cx="36576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3B36"/>
                </a:solidFill>
                <a:latin typeface="Aptos"/>
              </a:defRPr>
            </a:pPr>
            <a:r>
              <a:rPr>
                <a:solidFill/>
              </a:rPr>
              <a:t>SHILATECH  /  AUTO SPARES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393192"/>
            <a:ext cx="324612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ROLLOUT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786384"/>
            <a:ext cx="11000232" cy="10972"/>
          </a:xfrm>
          <a:prstGeom prst="rect">
            <a:avLst/>
          </a:prstGeom>
          <a:solidFill>
            <a:srgbClr val="3B493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00232" cy="10972"/>
          </a:xfrm>
          <a:prstGeom prst="rect">
            <a:avLst/>
          </a:prstGeom>
          <a:solidFill>
            <a:srgbClr val="3B493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519672"/>
            <a:ext cx="621792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CORPORATE PLATFORM OVERVIEW  •  OCT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35640" y="6510528"/>
            <a:ext cx="731520" cy="21031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133B36"/>
                </a:solidFill>
                <a:latin typeface="Aptos"/>
              </a:defRPr>
            </a:pPr>
            <a:r>
              <a:rPr>
                <a:solidFill/>
              </a:rPr>
              <a:t>10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024128"/>
            <a:ext cx="822960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A CONTROLLED LAUNCH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298448"/>
            <a:ext cx="10927080" cy="55778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2900" b="1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Four gates before “go live”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847088"/>
            <a:ext cx="10789920" cy="32918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Sequence infrastructure, data validation and operational rehearsal instead of switching everything on at once.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194560"/>
            <a:ext cx="603504" cy="36576"/>
          </a:xfrm>
          <a:prstGeom prst="rect">
            <a:avLst/>
          </a:prstGeom>
          <a:solidFill>
            <a:srgbClr val="58B72A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2542032"/>
            <a:ext cx="2542032" cy="3136392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3B4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542032"/>
            <a:ext cx="2542032" cy="109728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" y="2862072"/>
            <a:ext cx="777240" cy="5303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" y="3694176"/>
            <a:ext cx="210312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PREPARE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4105656"/>
            <a:ext cx="2075688" cy="117957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Confirm domains, provider accounts, roles and production secrets.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01568" y="2542032"/>
            <a:ext cx="2542032" cy="3136392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3B4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01568" y="2542032"/>
            <a:ext cx="2542032" cy="109728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1879" y="2862072"/>
            <a:ext cx="777240" cy="5303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79" y="3694176"/>
            <a:ext cx="210312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STAGE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79" y="4105656"/>
            <a:ext cx="2075688" cy="117957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Migrate a copy, reconcile stock and test simultaneous workflows.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63056" y="2542032"/>
            <a:ext cx="2542032" cy="3136392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3B4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3056" y="2542032"/>
            <a:ext cx="2542032" cy="109728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3368" y="2862072"/>
            <a:ext cx="777240" cy="5303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3694176"/>
            <a:ext cx="210312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REHEARSE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3368" y="4105656"/>
            <a:ext cx="2075688" cy="117957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Restore a backup; run a controlled order, POS sale and delivery.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24544" y="2542032"/>
            <a:ext cx="2542032" cy="3136392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3B4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24544" y="2542032"/>
            <a:ext cx="2542032" cy="109728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34856" y="2862072"/>
            <a:ext cx="777240" cy="5303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4856" y="3694176"/>
            <a:ext cx="210312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LAUNCH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34856" y="4105656"/>
            <a:ext cx="2075688" cy="117957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Deploy together, monitor transactions and keep a rollback plan.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0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55448"/>
            <a:ext cx="841248" cy="539496"/>
          </a:xfrm>
          <a:prstGeom prst="rect">
            <a:avLst/>
          </a:prstGeom>
          <a:ln>
            <a:solidFill/>
          </a:ln>
        </p:spPr>
      </p:pic>
      <p:sp>
        <p:nvSpPr>
          <p:cNvPr id="5" name="TextBox 4"/>
          <p:cNvSpPr txBox="1"/>
          <p:nvPr/>
        </p:nvSpPr>
        <p:spPr>
          <a:xfrm>
            <a:off x="1527048" y="347472"/>
            <a:ext cx="36576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3B36"/>
                </a:solidFill>
                <a:latin typeface="Aptos"/>
              </a:defRPr>
            </a:pPr>
            <a:r>
              <a:rPr>
                <a:solidFill/>
              </a:rPr>
              <a:t>SHILATECH  /  AUTO SPARES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393192"/>
            <a:ext cx="324612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ONLINE COST  /  01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786384"/>
            <a:ext cx="11000232" cy="10972"/>
          </a:xfrm>
          <a:prstGeom prst="rect">
            <a:avLst/>
          </a:prstGeom>
          <a:solidFill>
            <a:srgbClr val="3B493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00232" cy="10972"/>
          </a:xfrm>
          <a:prstGeom prst="rect">
            <a:avLst/>
          </a:prstGeom>
          <a:solidFill>
            <a:srgbClr val="3B493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519672"/>
            <a:ext cx="621792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CORPORATE PLATFORM OVERVIEW  •  OCT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35640" y="6510528"/>
            <a:ext cx="731520" cy="21031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133B36"/>
                </a:solidFill>
                <a:latin typeface="Aptos"/>
              </a:defRPr>
            </a:pPr>
            <a:r>
              <a:rPr>
                <a:solidFill/>
              </a:rPr>
              <a:t>11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024128"/>
            <a:ext cx="822960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MONTHLY COMPONENTS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298448"/>
            <a:ext cx="10927080" cy="55778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2900" b="1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Cost of putting the system online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847088"/>
            <a:ext cx="10789920" cy="32918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Indicative monthly planning estimates in KES  •  based on stakeholder-supplied assumptions.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194560"/>
            <a:ext cx="603504" cy="36576"/>
          </a:xfrm>
          <a:prstGeom prst="rect">
            <a:avLst/>
          </a:prstGeom>
          <a:solidFill>
            <a:srgbClr val="58B72A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276856"/>
            <a:ext cx="3090672" cy="466344"/>
          </a:xfrm>
          <a:prstGeom prst="rect">
            <a:avLst/>
          </a:prstGeom>
          <a:solidFill>
            <a:srgbClr val="10161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377440"/>
            <a:ext cx="2843784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COST ITEM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76472" y="2276856"/>
            <a:ext cx="2523744" cy="466344"/>
          </a:xfrm>
          <a:prstGeom prst="rect">
            <a:avLst/>
          </a:prstGeom>
          <a:solidFill>
            <a:srgbClr val="10161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04487" y="2377440"/>
            <a:ext cx="2276856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TIER 1  /  PILOT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2276856"/>
            <a:ext cx="2523744" cy="466344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3096" y="2377440"/>
            <a:ext cx="2276856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TIER 2  /  RECOMMENDED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33688" y="2276856"/>
            <a:ext cx="2615184" cy="466344"/>
          </a:xfrm>
          <a:prstGeom prst="rect">
            <a:avLst/>
          </a:prstGeom>
          <a:solidFill>
            <a:srgbClr val="10161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61704" y="2377440"/>
            <a:ext cx="2368296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TIER 3  /  VOLUME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743200"/>
            <a:ext cx="3090672" cy="493776"/>
          </a:xfrm>
          <a:prstGeom prst="rect">
            <a:avLst/>
          </a:prstGeom>
          <a:solidFill>
            <a:srgbClr val="10161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76472" y="2743200"/>
            <a:ext cx="2523744" cy="493776"/>
          </a:xfrm>
          <a:prstGeom prst="rect">
            <a:avLst/>
          </a:prstGeom>
          <a:solidFill>
            <a:srgbClr val="10161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5080" y="2743200"/>
            <a:ext cx="2523744" cy="493776"/>
          </a:xfrm>
          <a:prstGeom prst="rect">
            <a:avLst/>
          </a:prstGeom>
          <a:solidFill>
            <a:srgbClr val="10161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33688" y="2743200"/>
            <a:ext cx="2615184" cy="493776"/>
          </a:xfrm>
          <a:prstGeom prst="rect">
            <a:avLst/>
          </a:prstGeom>
          <a:solidFill>
            <a:srgbClr val="10161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2843784"/>
            <a:ext cx="28346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Domain + SSL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86200" y="2834640"/>
            <a:ext cx="2304287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KES 150–250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4808" y="2834640"/>
            <a:ext cx="2304287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KES 300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43415" y="2834640"/>
            <a:ext cx="2395728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KES 500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3236976"/>
            <a:ext cx="3090672" cy="493776"/>
          </a:xfrm>
          <a:prstGeom prst="rect">
            <a:avLst/>
          </a:prstGeom>
          <a:solidFill>
            <a:srgbClr val="15191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76472" y="3236976"/>
            <a:ext cx="2523744" cy="493776"/>
          </a:xfrm>
          <a:prstGeom prst="rect">
            <a:avLst/>
          </a:prstGeom>
          <a:solidFill>
            <a:srgbClr val="15191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55080" y="3236976"/>
            <a:ext cx="2523744" cy="493776"/>
          </a:xfrm>
          <a:prstGeom prst="rect">
            <a:avLst/>
          </a:prstGeom>
          <a:solidFill>
            <a:srgbClr val="15191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33688" y="3236976"/>
            <a:ext cx="2615184" cy="493776"/>
          </a:xfrm>
          <a:prstGeom prst="rect">
            <a:avLst/>
          </a:prstGeom>
          <a:solidFill>
            <a:srgbClr val="15191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3337560"/>
            <a:ext cx="28346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Web app hosting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86200" y="3328416"/>
            <a:ext cx="2304287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KES 0–650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64808" y="3328416"/>
            <a:ext cx="2304287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KES 2,600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43415" y="3328416"/>
            <a:ext cx="2395728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KES 6,500–11,000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3730752"/>
            <a:ext cx="3090672" cy="493776"/>
          </a:xfrm>
          <a:prstGeom prst="rect">
            <a:avLst/>
          </a:prstGeom>
          <a:solidFill>
            <a:srgbClr val="10161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776472" y="3730752"/>
            <a:ext cx="2523744" cy="493776"/>
          </a:xfrm>
          <a:prstGeom prst="rect">
            <a:avLst/>
          </a:prstGeom>
          <a:solidFill>
            <a:srgbClr val="10161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55080" y="3730752"/>
            <a:ext cx="2523744" cy="493776"/>
          </a:xfrm>
          <a:prstGeom prst="rect">
            <a:avLst/>
          </a:prstGeom>
          <a:solidFill>
            <a:srgbClr val="10161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33688" y="3730752"/>
            <a:ext cx="2615184" cy="493776"/>
          </a:xfrm>
          <a:prstGeom prst="rect">
            <a:avLst/>
          </a:prstGeom>
          <a:solidFill>
            <a:srgbClr val="10161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3831336"/>
            <a:ext cx="28346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Managed PostgreSQL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86200" y="3822191"/>
            <a:ext cx="2304287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KES 0–1,950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4808" y="3822191"/>
            <a:ext cx="2304287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KES 3,250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43415" y="3822191"/>
            <a:ext cx="2395728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KES 9,750–15,000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224528"/>
            <a:ext cx="3090672" cy="493776"/>
          </a:xfrm>
          <a:prstGeom prst="rect">
            <a:avLst/>
          </a:prstGeom>
          <a:solidFill>
            <a:srgbClr val="15191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776472" y="4224528"/>
            <a:ext cx="2523744" cy="493776"/>
          </a:xfrm>
          <a:prstGeom prst="rect">
            <a:avLst/>
          </a:prstGeom>
          <a:solidFill>
            <a:srgbClr val="15191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355080" y="4224528"/>
            <a:ext cx="2523744" cy="493776"/>
          </a:xfrm>
          <a:prstGeom prst="rect">
            <a:avLst/>
          </a:prstGeom>
          <a:solidFill>
            <a:srgbClr val="15191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33688" y="4224528"/>
            <a:ext cx="2615184" cy="493776"/>
          </a:xfrm>
          <a:prstGeom prst="rect">
            <a:avLst/>
          </a:prstGeom>
          <a:solidFill>
            <a:srgbClr val="15191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4325112"/>
            <a:ext cx="28346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Staff email + alerts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86200" y="4315968"/>
            <a:ext cx="2304287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KES 1,000–1,500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4808" y="4315968"/>
            <a:ext cx="2304287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KES 2,500–4,500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43415" y="4315968"/>
            <a:ext cx="2395728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KES 6,000–9,000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4718304"/>
            <a:ext cx="3090672" cy="493776"/>
          </a:xfrm>
          <a:prstGeom prst="rect">
            <a:avLst/>
          </a:prstGeom>
          <a:solidFill>
            <a:srgbClr val="10161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776472" y="4718304"/>
            <a:ext cx="2523744" cy="493776"/>
          </a:xfrm>
          <a:prstGeom prst="rect">
            <a:avLst/>
          </a:prstGeom>
          <a:solidFill>
            <a:srgbClr val="10161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355080" y="4718304"/>
            <a:ext cx="2523744" cy="493776"/>
          </a:xfrm>
          <a:prstGeom prst="rect">
            <a:avLst/>
          </a:prstGeom>
          <a:solidFill>
            <a:srgbClr val="10161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933688" y="4718304"/>
            <a:ext cx="2615184" cy="493776"/>
          </a:xfrm>
          <a:prstGeom prst="rect">
            <a:avLst/>
          </a:prstGeom>
          <a:solidFill>
            <a:srgbClr val="10161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77240" y="4818888"/>
            <a:ext cx="28346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Encrypted off-site backup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886200" y="4809744"/>
            <a:ext cx="2304287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KES 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64808" y="4809744"/>
            <a:ext cx="2304287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KES 650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43415" y="4809744"/>
            <a:ext cx="2395728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KES 1,950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0080" y="5221224"/>
            <a:ext cx="10908792" cy="585216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77240" y="5367528"/>
            <a:ext cx="2770632" cy="26517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MONTHLY TOTAL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86200" y="5330952"/>
            <a:ext cx="2304287" cy="32004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KES 1,150–4,350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64808" y="5330952"/>
            <a:ext cx="2304287" cy="32004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KES 9,300–11,300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43415" y="5330952"/>
            <a:ext cx="2395728" cy="32004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KES 24,700–37,450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7512" y="5916168"/>
            <a:ext cx="1078992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Totals are sums of the listed ranges; Tier 3 upper bound corrected from KES 38,450 to KES 37,450.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0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55448"/>
            <a:ext cx="841248" cy="539496"/>
          </a:xfrm>
          <a:prstGeom prst="rect">
            <a:avLst/>
          </a:prstGeom>
          <a:ln>
            <a:solidFill/>
          </a:ln>
        </p:spPr>
      </p:pic>
      <p:sp>
        <p:nvSpPr>
          <p:cNvPr id="5" name="TextBox 4"/>
          <p:cNvSpPr txBox="1"/>
          <p:nvPr/>
        </p:nvSpPr>
        <p:spPr>
          <a:xfrm>
            <a:off x="1527048" y="347472"/>
            <a:ext cx="36576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3B36"/>
                </a:solidFill>
                <a:latin typeface="Aptos"/>
              </a:defRPr>
            </a:pPr>
            <a:r>
              <a:rPr>
                <a:solidFill/>
              </a:rPr>
              <a:t>SHILATECH  /  AUTO SPARES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393192"/>
            <a:ext cx="324612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ONLINE COST  /  02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786384"/>
            <a:ext cx="11000232" cy="10972"/>
          </a:xfrm>
          <a:prstGeom prst="rect">
            <a:avLst/>
          </a:prstGeom>
          <a:solidFill>
            <a:srgbClr val="3B493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00232" cy="10972"/>
          </a:xfrm>
          <a:prstGeom prst="rect">
            <a:avLst/>
          </a:prstGeom>
          <a:solidFill>
            <a:srgbClr val="3B493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519672"/>
            <a:ext cx="621792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CORPORATE PLATFORM OVERVIEW  •  OCT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35640" y="6510528"/>
            <a:ext cx="731520" cy="21031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133B36"/>
                </a:solidFill>
                <a:latin typeface="Aptos"/>
              </a:defRPr>
            </a:pPr>
            <a:r>
              <a:rPr>
                <a:solidFill/>
              </a:rPr>
              <a:t>12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024128"/>
            <a:ext cx="822960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YEARLY COMPONENTS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298448"/>
            <a:ext cx="10927080" cy="55778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2900" b="1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The annual cost, item by item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847088"/>
            <a:ext cx="10789920" cy="32918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Annualised from the monthly planning ranges: 12 × each listed component, in KES.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194560"/>
            <a:ext cx="603504" cy="36576"/>
          </a:xfrm>
          <a:prstGeom prst="rect">
            <a:avLst/>
          </a:prstGeom>
          <a:solidFill>
            <a:srgbClr val="58B72A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276856"/>
            <a:ext cx="3090672" cy="466344"/>
          </a:xfrm>
          <a:prstGeom prst="rect">
            <a:avLst/>
          </a:prstGeom>
          <a:solidFill>
            <a:srgbClr val="10161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377440"/>
            <a:ext cx="2843784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COST ITEM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76472" y="2276856"/>
            <a:ext cx="2523744" cy="466344"/>
          </a:xfrm>
          <a:prstGeom prst="rect">
            <a:avLst/>
          </a:prstGeom>
          <a:solidFill>
            <a:srgbClr val="10161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04487" y="2377440"/>
            <a:ext cx="2276856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TIER 1  /  PILOT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2276856"/>
            <a:ext cx="2523744" cy="466344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3096" y="2377440"/>
            <a:ext cx="2276856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TIER 2  /  RECOMMENDED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33688" y="2276856"/>
            <a:ext cx="2615184" cy="466344"/>
          </a:xfrm>
          <a:prstGeom prst="rect">
            <a:avLst/>
          </a:prstGeom>
          <a:solidFill>
            <a:srgbClr val="10161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61704" y="2377440"/>
            <a:ext cx="2368296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TIER 3  /  VOLUME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743200"/>
            <a:ext cx="3090672" cy="493776"/>
          </a:xfrm>
          <a:prstGeom prst="rect">
            <a:avLst/>
          </a:prstGeom>
          <a:solidFill>
            <a:srgbClr val="10161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76472" y="2743200"/>
            <a:ext cx="2523744" cy="493776"/>
          </a:xfrm>
          <a:prstGeom prst="rect">
            <a:avLst/>
          </a:prstGeom>
          <a:solidFill>
            <a:srgbClr val="10161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5080" y="2743200"/>
            <a:ext cx="2523744" cy="493776"/>
          </a:xfrm>
          <a:prstGeom prst="rect">
            <a:avLst/>
          </a:prstGeom>
          <a:solidFill>
            <a:srgbClr val="10161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33688" y="2743200"/>
            <a:ext cx="2615184" cy="493776"/>
          </a:xfrm>
          <a:prstGeom prst="rect">
            <a:avLst/>
          </a:prstGeom>
          <a:solidFill>
            <a:srgbClr val="10161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2843784"/>
            <a:ext cx="28346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Domain + SSL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86200" y="2834640"/>
            <a:ext cx="2304287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KES 1,800–3,000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4808" y="2834640"/>
            <a:ext cx="2304287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KES 3,600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43415" y="2834640"/>
            <a:ext cx="2395728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KES 6,000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3236976"/>
            <a:ext cx="3090672" cy="493776"/>
          </a:xfrm>
          <a:prstGeom prst="rect">
            <a:avLst/>
          </a:prstGeom>
          <a:solidFill>
            <a:srgbClr val="15191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76472" y="3236976"/>
            <a:ext cx="2523744" cy="493776"/>
          </a:xfrm>
          <a:prstGeom prst="rect">
            <a:avLst/>
          </a:prstGeom>
          <a:solidFill>
            <a:srgbClr val="15191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55080" y="3236976"/>
            <a:ext cx="2523744" cy="493776"/>
          </a:xfrm>
          <a:prstGeom prst="rect">
            <a:avLst/>
          </a:prstGeom>
          <a:solidFill>
            <a:srgbClr val="15191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33688" y="3236976"/>
            <a:ext cx="2615184" cy="493776"/>
          </a:xfrm>
          <a:prstGeom prst="rect">
            <a:avLst/>
          </a:prstGeom>
          <a:solidFill>
            <a:srgbClr val="15191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3337560"/>
            <a:ext cx="28346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Web app hosting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86200" y="3328416"/>
            <a:ext cx="2304287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KES 0–7,800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64808" y="3328416"/>
            <a:ext cx="2304287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KES 31,200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43415" y="3328416"/>
            <a:ext cx="2395728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KES 78,000–132,000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3730752"/>
            <a:ext cx="3090672" cy="493776"/>
          </a:xfrm>
          <a:prstGeom prst="rect">
            <a:avLst/>
          </a:prstGeom>
          <a:solidFill>
            <a:srgbClr val="10161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776472" y="3730752"/>
            <a:ext cx="2523744" cy="493776"/>
          </a:xfrm>
          <a:prstGeom prst="rect">
            <a:avLst/>
          </a:prstGeom>
          <a:solidFill>
            <a:srgbClr val="10161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55080" y="3730752"/>
            <a:ext cx="2523744" cy="493776"/>
          </a:xfrm>
          <a:prstGeom prst="rect">
            <a:avLst/>
          </a:prstGeom>
          <a:solidFill>
            <a:srgbClr val="10161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33688" y="3730752"/>
            <a:ext cx="2615184" cy="493776"/>
          </a:xfrm>
          <a:prstGeom prst="rect">
            <a:avLst/>
          </a:prstGeom>
          <a:solidFill>
            <a:srgbClr val="10161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3831336"/>
            <a:ext cx="28346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Managed PostgreSQL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86200" y="3822191"/>
            <a:ext cx="2304287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KES 0–23,400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4808" y="3822191"/>
            <a:ext cx="2304287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KES 39,000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43415" y="3822191"/>
            <a:ext cx="2395728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KES 117,000–180,000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224528"/>
            <a:ext cx="3090672" cy="493776"/>
          </a:xfrm>
          <a:prstGeom prst="rect">
            <a:avLst/>
          </a:prstGeom>
          <a:solidFill>
            <a:srgbClr val="15191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776472" y="4224528"/>
            <a:ext cx="2523744" cy="493776"/>
          </a:xfrm>
          <a:prstGeom prst="rect">
            <a:avLst/>
          </a:prstGeom>
          <a:solidFill>
            <a:srgbClr val="15191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355080" y="4224528"/>
            <a:ext cx="2523744" cy="493776"/>
          </a:xfrm>
          <a:prstGeom prst="rect">
            <a:avLst/>
          </a:prstGeom>
          <a:solidFill>
            <a:srgbClr val="15191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33688" y="4224528"/>
            <a:ext cx="2615184" cy="493776"/>
          </a:xfrm>
          <a:prstGeom prst="rect">
            <a:avLst/>
          </a:prstGeom>
          <a:solidFill>
            <a:srgbClr val="15191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4325112"/>
            <a:ext cx="28346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Staff email + alerts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86200" y="4315968"/>
            <a:ext cx="2304287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KES 12,000–18,000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4808" y="4315968"/>
            <a:ext cx="2304287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KES 30,000–54,000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43415" y="4315968"/>
            <a:ext cx="2395728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KES 72,000–108,000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4718304"/>
            <a:ext cx="3090672" cy="493776"/>
          </a:xfrm>
          <a:prstGeom prst="rect">
            <a:avLst/>
          </a:prstGeom>
          <a:solidFill>
            <a:srgbClr val="10161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776472" y="4718304"/>
            <a:ext cx="2523744" cy="493776"/>
          </a:xfrm>
          <a:prstGeom prst="rect">
            <a:avLst/>
          </a:prstGeom>
          <a:solidFill>
            <a:srgbClr val="10161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355080" y="4718304"/>
            <a:ext cx="2523744" cy="493776"/>
          </a:xfrm>
          <a:prstGeom prst="rect">
            <a:avLst/>
          </a:prstGeom>
          <a:solidFill>
            <a:srgbClr val="10161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933688" y="4718304"/>
            <a:ext cx="2615184" cy="493776"/>
          </a:xfrm>
          <a:prstGeom prst="rect">
            <a:avLst/>
          </a:prstGeom>
          <a:solidFill>
            <a:srgbClr val="10161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77240" y="4818888"/>
            <a:ext cx="28346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172A2B"/>
                </a:solidFill>
                <a:latin typeface="Aptos"/>
              </a:defRPr>
            </a:pPr>
            <a:r>
              <a:rPr>
                <a:solidFill/>
              </a:rPr>
              <a:t>Encrypted off-site backup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886200" y="4809744"/>
            <a:ext cx="2304287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KES 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64808" y="4809744"/>
            <a:ext cx="2304287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KES 7,800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43415" y="4809744"/>
            <a:ext cx="2395728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A4C42"/>
                </a:solidFill>
                <a:latin typeface="Aptos"/>
              </a:defRPr>
            </a:pPr>
            <a:r>
              <a:rPr>
                <a:solidFill/>
              </a:rPr>
              <a:t>KES 23,400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0080" y="5221224"/>
            <a:ext cx="10908792" cy="585216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77240" y="5367528"/>
            <a:ext cx="2770632" cy="26517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YEARLY TOTAL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86200" y="5330952"/>
            <a:ext cx="2304287" cy="32004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KES 13,800–52,200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64808" y="5330952"/>
            <a:ext cx="2304287" cy="32004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KES 111,600–135,600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43415" y="5330952"/>
            <a:ext cx="2395728" cy="32004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KES 296,400–449,400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7512" y="5916168"/>
            <a:ext cx="1078992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667978"/>
                </a:solidFill>
                <a:latin typeface="Aptos"/>
              </a:defRPr>
            </a:pPr>
            <a:r>
              <a:rPr>
                <a:solidFill/>
              </a:rPr>
              <a:t>Yearly totals use 12 months of service; Tier 3 upper bound follows the corrected monthly sum.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0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58B72A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55448"/>
            <a:ext cx="841248" cy="539496"/>
          </a:xfrm>
          <a:prstGeom prst="rect">
            <a:avLst/>
          </a:prstGeom>
          <a:ln>
            <a:solidFill/>
          </a:ln>
        </p:spPr>
      </p:pic>
      <p:sp>
        <p:nvSpPr>
          <p:cNvPr id="5" name="TextBox 4"/>
          <p:cNvSpPr txBox="1"/>
          <p:nvPr/>
        </p:nvSpPr>
        <p:spPr>
          <a:xfrm>
            <a:off x="1527048" y="347472"/>
            <a:ext cx="36576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SHILATECH  /  AUTO SPARES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393192"/>
            <a:ext cx="324612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ONLINE COST  /  03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786384"/>
            <a:ext cx="11000232" cy="10972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00232" cy="10972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519672"/>
            <a:ext cx="621792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8FA39C"/>
                </a:solidFill>
                <a:latin typeface="Aptos"/>
              </a:defRPr>
            </a:pPr>
            <a:r>
              <a:rPr>
                <a:solidFill/>
              </a:rPr>
              <a:t>CORPORATE PLATFORM OVERVIEW  •  OCT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35640" y="6510528"/>
            <a:ext cx="731520" cy="21031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13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143000"/>
            <a:ext cx="676656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THE RECOMMENDATION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499616"/>
            <a:ext cx="7863840" cy="1362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  <a:defRPr sz="3600" b="1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Approve the corporate</a:t>
            </a:r>
          </a:p>
          <a:p>
            <a:pPr algn="l">
              <a:spcAft>
                <a:spcPts val="0"/>
              </a:spcAft>
              <a:defRPr sz="3600" b="1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production budget.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209544"/>
            <a:ext cx="6894576" cy="1234440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243E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83280"/>
            <a:ext cx="6364224" cy="5303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KES 9,300–11,300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941063"/>
            <a:ext cx="6281928" cy="25603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per month  /  ~KES 112k–136k per year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72983" y="1344168"/>
            <a:ext cx="3630168" cy="4187952"/>
          </a:xfrm>
          <a:prstGeom prst="roundRect">
            <a:avLst>
              <a:gd name="adj" fmla="val 12000"/>
            </a:avLst>
          </a:prstGeom>
          <a:solidFill>
            <a:srgbClr val="101610"/>
          </a:solidFill>
          <a:ln w="12700">
            <a:solidFill>
              <a:srgbClr val="243E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1673352"/>
            <a:ext cx="3081528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NO PLATFORM LICENCE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1975104"/>
            <a:ext cx="2935224" cy="5120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KES 0 / 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56448" y="2670048"/>
            <a:ext cx="3026664" cy="10972"/>
          </a:xfrm>
          <a:prstGeom prst="rect">
            <a:avLst/>
          </a:prstGeom>
          <a:solidFill>
            <a:srgbClr val="243E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2935224"/>
            <a:ext cx="310896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5EB68"/>
                </a:solidFill>
                <a:latin typeface="Aptos"/>
              </a:defRPr>
            </a:pPr>
            <a:r>
              <a:rPr>
                <a:solidFill/>
              </a:rPr>
              <a:t>DARAJA STK PUSH ONBOARDING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6448" y="3264408"/>
            <a:ext cx="2953512" cy="6583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KES 0 setup  /  KES 0 monthly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6448" y="4087368"/>
            <a:ext cx="2971800" cy="9326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C9D8D1"/>
                </a:solidFill>
                <a:latin typeface="Aptos"/>
              </a:defRPr>
            </a:pPr>
            <a:r>
              <a:rPr>
                <a:solidFill/>
              </a:rPr>
              <a:t>Standard Paybill / Till transaction tariffs still apply.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800600"/>
            <a:ext cx="6894576" cy="722376"/>
          </a:xfrm>
          <a:prstGeom prst="roundRect">
            <a:avLst>
              <a:gd name="adj" fmla="val 12000"/>
            </a:avLst>
          </a:prstGeom>
          <a:solidFill>
            <a:srgbClr val="15191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983480"/>
            <a:ext cx="6409944" cy="35661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rPr>
                <a:solidFill/>
              </a:rPr>
              <a:t>NEXT  •  Confirm quotes  →  Validate backup restore  →  Rehearse a controlled launch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724144"/>
            <a:ext cx="10753344" cy="46634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B5C6BF"/>
                </a:solidFill>
                <a:latin typeface="Aptos"/>
              </a:defRPr>
            </a:pPr>
            <a:r>
              <a:rPr>
                <a:solidFill/>
              </a:rPr>
              <a:t>Budget assumptions, not vendor quotes. USD items use ~KES 130 / USD; confirm FX, tax, usage limits and provider terms.</a:t>
            </a:r>
          </a:p>
          <a:p>
            <a:pPr algn="l">
              <a:spcAft>
                <a:spcPts val="0"/>
              </a:spcAft>
              <a:defRPr sz="1000" b="0">
                <a:solidFill>
                  <a:srgbClr val="B5C6BF"/>
                </a:solidFill>
                <a:latin typeface="Aptos"/>
              </a:defRPr>
            </a:pPr>
            <a:r>
              <a:rPr>
                <a:solidFill/>
              </a:rPr>
              <a:t>Payment transaction charges and implementation work are excluded; live gateway charging is not yet enabled.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Shilatech Auto Spares | Corporate Platform Overview</dc:title>
  <dc:subject>Platform capabilities, controlled launch and indicative monthly and yearly online costs</dc:subject>
  <dc:creator>Shilatech Auto Spares</dc:creator>
  <cp:keywords>Shilatech, auto spares, Kenya, hosting, budget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