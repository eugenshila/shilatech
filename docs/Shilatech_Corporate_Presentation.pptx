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based on the checked-in Shilatech application and documentation. This is a capability and deployment-planning overview; it does not claim that production deployment or live payment collection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 decoding and catalogue fitment filtering are a foundation, not a guarantee of compatibility. README.md says live gateway charges remain disabled until payment provider credentials are configured.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docs/WAREHOUSE_COUNTER_ROLLOUT.md describes shared batch stock, FIFO, reservations, MAIN location restrictions, idempotent counter sales and audit records. Electronic POS payments require independent verification before recording; no automatic gateway charging or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labels are drawn from pages and the website user manual. Do not present this as proof of an operational live deployment or integrated carrier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docs/finance-analysis.md and docs/payroll-v1.md. Payroll v1 does not perform bank/M-Pesa transfers, remittances or payment-status recording. Finance analysis estimates require accountant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architecture derived from README.md and stakeholder price assumptions. The email/alert setup and off-site backup bucket are deployment budget items, not a claim that these external services are provisioned today. SSL assumed free via host/certificate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docs/WAREHOUSE_COUNTER_ROLLOUT.md for migration, reconciliation, backup and rollback ordering. Live gateway payment onboarding must be separately completed before charging customers; do not assume it is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supplied by the stakeholder. Tier 1 minima: 150+0+0+1000+0=1150; maxima: 250+650+1950+1500+0=4350. Tier 2 minima: 300+2600+3250+2500+650=9300; maxima: 300+2600+3250+4500+650=11300. Tier 3 minima: 500+6500+9750+6000+1950=24700; maxima: 500+11000+15000+9000+1950=37450. The supplied 38450 upper total did not match its components. Prices are not provider quotes; validate pricing, tax, FX, usage and availability before procurement.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Annual totals are the exact monthly sums times 12: Tier 1 KES 13,800–52,200; Tier 2 KES 111,600–135,600; Tier 3 KES 296,400–449,400. The stakeholder-supplied Tier 3 upper annual estimate KES 460,000 was based on the inconsistent upper monthly total. Domain Tier 2 KES 300/month annualises to KES 3,600, near the stakeholder approximation of KES 3,500/year. Provider prices, tax, USD/KES FX and usage must be checked at procurement.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is based on stakeholder-supplied estimates, not independently validated live provider quotations. The M-Pesa Daraja KES 0 setup/monthly claim is stakeholder-provided; independently verify onboarding eligibility and current Paybill/Till transaction tariff before contracting. Vercel $20≈KES2600, Supabase $25≈KES3250 and off-site bucket $5≈KES650 at an assumed 130 KES/USD; plans and usage may differ. Free SSL assumed. Checkout currently offers payment selection but live gateway charges remain disabled pending official credentials and integration (README.md).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5A7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01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444752"/>
            <a:ext cx="155448" cy="404164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435608"/>
            <a:ext cx="57607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DIGITAL COMMERCE  /  OPERATIONS  / 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847088"/>
            <a:ext cx="6400800" cy="2578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6F7F5"/>
                </a:solidFill>
                <a:latin typeface="Arial"/>
              </a:rPr>
              <a:t>One platform.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6F7F5"/>
                </a:solidFill>
                <a:latin typeface="Arial"/>
              </a:rPr>
              <a:t>Every part of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6F7F5"/>
                </a:solidFill>
                <a:latin typeface="Arial"/>
              </a:rPr>
              <a:t>the operation.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18888"/>
            <a:ext cx="589788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FDCD2"/>
                </a:solidFill>
                <a:latin typeface="Arial"/>
              </a:rPr>
              <a:t>A connected digital foundation for Shilatech Auto Spares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90472"/>
            <a:ext cx="3822191" cy="4261104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1773936"/>
            <a:ext cx="32004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THE SHILATECH WEBSITE LOOK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2212848"/>
            <a:ext cx="3227832" cy="2240280"/>
          </a:xfrm>
          <a:prstGeom prst="rect">
            <a:avLst/>
          </a:prstGeom>
          <a:ln>
            <a:solidFill/>
          </a:ln>
        </p:spPr>
      </p:pic>
      <p:sp>
        <p:nvSpPr>
          <p:cNvPr id="18" name="Rounded Rectangle 17"/>
          <p:cNvSpPr/>
          <p:nvPr/>
        </p:nvSpPr>
        <p:spPr>
          <a:xfrm>
            <a:off x="8019288" y="4599432"/>
            <a:ext cx="3227832" cy="749808"/>
          </a:xfrm>
          <a:prstGeom prst="roundRect">
            <a:avLst>
              <a:gd name="adj" fmla="val 12000"/>
            </a:avLst>
          </a:prstGeom>
          <a:solidFill>
            <a:srgbClr val="151F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809744"/>
            <a:ext cx="277977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6F7F5"/>
                </a:solidFill>
                <a:latin typeface="Arial"/>
              </a:rPr>
              <a:t>BLACK  /  GREEN  /  WHITE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EXECUTIVE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02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Move from separate tasks to one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Make it easier to find parts, transact safely and coordinate the team behind every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3502152" cy="296265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06040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00400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Find the right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66744"/>
            <a:ext cx="3063240" cy="1472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Catalogue search, vehicle brands, VIN lookup foundation and customer accounts give buyers a clearer path to purchase.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395728"/>
            <a:ext cx="3502152" cy="296265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606040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200400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Sell with stock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666744"/>
            <a:ext cx="3063240" cy="1472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Online checkout and the staff sales counter use shared inventory controls, reducing avoidable overselling.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395728"/>
            <a:ext cx="3502152" cy="296265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2606040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3200400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Run the operation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3666744"/>
            <a:ext cx="3063240" cy="1472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Warehouse, delivery, staff, finance and management views bring the day-to-day workflow into one 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08792" cy="438912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760720"/>
            <a:ext cx="9875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DDD71"/>
                </a:solidFill>
                <a:latin typeface="Arial"/>
              </a:rPr>
              <a:t>POSITIONING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5742432"/>
            <a:ext cx="923544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Custom-owned software  •  modular rollout  •  no recurring software licence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CUSTOMER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FROM SEARCH TO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A simpler path from vehicle to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The public website is designed around the questions a customer asks before and after checkout.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" y="2523744"/>
            <a:ext cx="2029968" cy="259689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" y="2523744"/>
            <a:ext cx="2029968" cy="7315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788920"/>
            <a:ext cx="6858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6DD62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383280"/>
            <a:ext cx="1700784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749039"/>
            <a:ext cx="1673352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Browse brands, categories and featured parts.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419856"/>
            <a:ext cx="256032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6DD62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52928" y="2523744"/>
            <a:ext cx="2029968" cy="259689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52928" y="2523744"/>
            <a:ext cx="2029968" cy="7315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2788920"/>
            <a:ext cx="6858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6DD62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4" y="3383280"/>
            <a:ext cx="1700784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6664" y="3749039"/>
            <a:ext cx="1673352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Search by part or use VIN lookup as a fitment aid.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3419856"/>
            <a:ext cx="256032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6DD62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2523744"/>
            <a:ext cx="2029968" cy="259689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2523744"/>
            <a:ext cx="2029968" cy="7315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788920"/>
            <a:ext cx="6858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6DD62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3383280"/>
            <a:ext cx="1700784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CHOOSE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3749039"/>
            <a:ext cx="1673352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Review product details, cart and delivery options.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3419856"/>
            <a:ext cx="256032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6DD62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2523744"/>
            <a:ext cx="2029968" cy="259689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2523744"/>
            <a:ext cx="2029968" cy="7315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2788920"/>
            <a:ext cx="6858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6DD62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3383280"/>
            <a:ext cx="1700784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3749039"/>
            <a:ext cx="1673352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Submit checkout with the selected payment method.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3419856"/>
            <a:ext cx="256032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6DD62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18904" y="2523744"/>
            <a:ext cx="2029968" cy="2596896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18904" y="2523744"/>
            <a:ext cx="2029968" cy="7315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01784" y="2788920"/>
            <a:ext cx="68580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6DD62"/>
                </a:solidFill>
                <a:latin typeface="Arial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383280"/>
            <a:ext cx="1700784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749039"/>
            <a:ext cx="1673352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Use account, workshop and support journeys.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5504688"/>
            <a:ext cx="10917936" cy="475488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605272"/>
            <a:ext cx="1042416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DDD71"/>
                </a:solidFill>
                <a:latin typeface="Arial"/>
              </a:rPr>
              <a:t>PAYMENT STATUS  •  Checkout methods are selectable; live gateway charging needs provider credentials and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PLATFORM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04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ONE CONNECTED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Two experiences. One operational backbone.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Customers see a focused storefront; staff see role-specific workspaces connected to the same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414016"/>
            <a:ext cx="5358384" cy="3584448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14016"/>
            <a:ext cx="5358384" cy="9144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34056"/>
            <a:ext cx="44805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CUSTOMER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81528"/>
            <a:ext cx="4754880" cy="35661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Find, decide and request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" y="3813048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3657600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Product catalogue &amp; brand filters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" y="4325112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" y="4169664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VIN lookup &amp; My Garage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" y="4837176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7864" y="4681728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Cart, checkout &amp; account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" y="5349240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7864" y="5193792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Workshop, contact &amp;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2414016"/>
            <a:ext cx="5358384" cy="3584448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2414016"/>
            <a:ext cx="5358384" cy="9144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2734056"/>
            <a:ext cx="44805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STAFF 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3081528"/>
            <a:ext cx="4754880" cy="35661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Receive, sell and fulfil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1" y="3813048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3657600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Warehouse &amp; barcode workflows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1" y="4325112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4169664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Counter POS &amp; order handling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3951" y="4837176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4681728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Delivery, garage &amp; approvals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73951" y="5349240"/>
            <a:ext cx="109728" cy="109728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5193792"/>
            <a:ext cx="447141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Finance, HR &amp;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9319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4005072"/>
            <a:ext cx="429768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80A09"/>
                </a:solidFill>
                <a:latin typeface="Arial"/>
              </a:rP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INVENTORY &amp; 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5A7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05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THE OPERATIONAL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Stock discipline across two sales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3D0C2"/>
                </a:solidFill>
                <a:latin typeface="Arial"/>
              </a:rPr>
              <a:t>Batch-based receiving and shared availability connect warehouse activity to online and counter sales.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32888"/>
            <a:ext cx="2542032" cy="1993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715768"/>
            <a:ext cx="5029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AE367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209544"/>
            <a:ext cx="20848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RECEIVE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557016"/>
            <a:ext cx="2103120" cy="7223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Log inbound batches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and purchase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255264"/>
            <a:ext cx="26517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2532888"/>
            <a:ext cx="2542032" cy="1993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715768"/>
            <a:ext cx="5029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AE367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3209544"/>
            <a:ext cx="20848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557016"/>
            <a:ext cx="2103120" cy="7223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Reconcile sellable stock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and online reservations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3255264"/>
            <a:ext cx="26517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2532888"/>
            <a:ext cx="2542032" cy="1993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715768"/>
            <a:ext cx="5029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AE367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209544"/>
            <a:ext cx="20848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557016"/>
            <a:ext cx="2103120" cy="7223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Online order or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counter POS 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3255264"/>
            <a:ext cx="26517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2532888"/>
            <a:ext cx="2542032" cy="1993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2715768"/>
            <a:ext cx="5029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AE367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3209544"/>
            <a:ext cx="2084831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TRACE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3557016"/>
            <a:ext cx="2103120" cy="7223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Record movement,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receipt and audit trail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10328"/>
            <a:ext cx="10908792" cy="1033271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111496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AE367"/>
                </a:solidFill>
                <a:latin typeface="Arial"/>
              </a:rPr>
              <a:t>CURRENT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5056632"/>
            <a:ext cx="8302752" cy="5394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MAIN location is the active sales location; multi-branch transfers are a future phase, not a current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SERVICE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06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AFTER THE SALE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Turn an order into a coordinated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Operational workspaces give teams a place to track the next action—not only the initial transaction.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5349240" cy="162763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3" y="2670048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816352"/>
            <a:ext cx="4572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660904"/>
            <a:ext cx="4005072" cy="37490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Order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127248"/>
            <a:ext cx="3913632" cy="6217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Staff review order details and progress warehouse picking.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395728"/>
            <a:ext cx="5349240" cy="162763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1656" y="2670048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816352"/>
            <a:ext cx="4572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660904"/>
            <a:ext cx="4005072" cy="37490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127248"/>
            <a:ext cx="3913632" cy="6217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Delivery views help manage fulfilment and completion.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79392"/>
            <a:ext cx="5349240" cy="162763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3" y="4553712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700016"/>
            <a:ext cx="4572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544568"/>
            <a:ext cx="4005072" cy="37490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Garage &amp;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5010912"/>
            <a:ext cx="3913632" cy="6217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Service requests and garage jobs sit alongside parts activity.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279392"/>
            <a:ext cx="5349240" cy="162763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91656" y="4553712"/>
            <a:ext cx="621792" cy="621792"/>
          </a:xfrm>
          <a:prstGeom prst="roundRect">
            <a:avLst>
              <a:gd name="adj" fmla="val 12000"/>
            </a:avLst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700016"/>
            <a:ext cx="4572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44568"/>
            <a:ext cx="4005072" cy="37490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Returns &amp; exceptions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010912"/>
            <a:ext cx="3913632" cy="6217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Returns and approvals create visible review points for exceptions.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BUSINESS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07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MANAGEMENT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Finance, people and approvals in one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Role-specific workspaces help managers follow the numbers and the decisions behind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77440"/>
            <a:ext cx="3502152" cy="2880360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587752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182112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48456"/>
            <a:ext cx="3063240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Receivables, recorded POS and invoice activity, and analysis of recorded costs and approved liabilities.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377440"/>
            <a:ext cx="3502152" cy="2880360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587752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182112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648456"/>
            <a:ext cx="3063240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HR records and a Kenya payroll preparation module with review and approval steps.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377440"/>
            <a:ext cx="3502152" cy="2880360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2587752"/>
            <a:ext cx="530352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96DD62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3182112"/>
            <a:ext cx="306324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3648456"/>
            <a:ext cx="3063240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1B3"/>
                </a:solidFill>
                <a:latin typeface="Arial"/>
              </a:rPr>
              <a:t>Manager and administrator views, staff roles and approval checkpoints for controlled operations.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13832"/>
            <a:ext cx="10908792" cy="484632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614416"/>
            <a:ext cx="1037844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DDD71"/>
                </a:solidFill>
                <a:latin typeface="Arial"/>
              </a:rPr>
              <a:t>BOUNDARY  •  Payroll is calculation and approval preparation; it does not send salaries or file statutory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5A7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08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BUILT FOR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Operational safeguards to preserve at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3D0C2"/>
                </a:solidFill>
                <a:latin typeface="Arial"/>
              </a:rPr>
              <a:t>A controlled go-live is as important as the software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386584"/>
            <a:ext cx="5358384" cy="13533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587752"/>
            <a:ext cx="530352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551176"/>
            <a:ext cx="41605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Access by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026663"/>
            <a:ext cx="4187952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8DDD7"/>
                </a:solidFill>
                <a:latin typeface="Arial"/>
              </a:rPr>
              <a:t>Staff routes and actions check the signed-in user and permissions.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386584"/>
            <a:ext cx="5358384" cy="13533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587752"/>
            <a:ext cx="530352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551176"/>
            <a:ext cx="41605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Stock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3026663"/>
            <a:ext cx="4187952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8DDD7"/>
                </a:solidFill>
                <a:latin typeface="Arial"/>
              </a:rPr>
              <a:t>Batch movement, reservations and discrepancy checks protect availability.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5358384" cy="13533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178807"/>
            <a:ext cx="530352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4142231"/>
            <a:ext cx="41605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Repeat-safe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617720"/>
            <a:ext cx="4187952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8DDD7"/>
                </a:solidFill>
                <a:latin typeface="Arial"/>
              </a:rPr>
              <a:t>Counter retries use request keys to avoid duplicate committed sales.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977639"/>
            <a:ext cx="5358384" cy="13533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178807"/>
            <a:ext cx="530352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9AE367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4142231"/>
            <a:ext cx="4160520" cy="3931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6F7F5"/>
                </a:solidFill>
                <a:latin typeface="Arial"/>
              </a:rPr>
              <a:t>Reviewable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4617720"/>
            <a:ext cx="4187952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8DDD7"/>
                </a:solidFill>
                <a:latin typeface="Arial"/>
              </a:rPr>
              <a:t>Approval steps and audit records make important changes traceable.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42432"/>
            <a:ext cx="10908792" cy="384048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824728"/>
            <a:ext cx="10405872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AE367"/>
                </a:solidFill>
                <a:latin typeface="Arial"/>
              </a:rPr>
              <a:t>GO-LIVE REQUIREMENT  •  Verify backup restore, payment handling and simultaneous sales on staging before opening.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DEPLOYMENT BLUEPRINT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09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PUTTING IT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A practical production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Proposed service layout for a managed, browser-accessible launch.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496312"/>
            <a:ext cx="10908792" cy="6675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96312"/>
            <a:ext cx="73152" cy="66751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60904"/>
            <a:ext cx="521207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6DD62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2651760"/>
            <a:ext cx="2926080" cy="3383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6F7F5"/>
                </a:solidFill>
                <a:latin typeface="Arial"/>
              </a:rPr>
              <a:t>CUSTOMER &amp;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60904"/>
            <a:ext cx="6272784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Web browsers  •  domain  •  free SSL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19272"/>
            <a:ext cx="10908792" cy="6675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19272"/>
            <a:ext cx="73152" cy="66751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83864"/>
            <a:ext cx="521207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6DD62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3474720"/>
            <a:ext cx="2926080" cy="3383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6F7F5"/>
                </a:solidFill>
                <a:latin typeface="Arial"/>
              </a:rPr>
              <a:t>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83864"/>
            <a:ext cx="6272784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Next.js app  •  Vercel or Railway hosting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42232"/>
            <a:ext cx="10908792" cy="6675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142232"/>
            <a:ext cx="73152" cy="66751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06824"/>
            <a:ext cx="521207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6DD62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0472" y="4297680"/>
            <a:ext cx="2926080" cy="3383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6F7F5"/>
                </a:solidFill>
                <a:latin typeface="Arial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06824"/>
            <a:ext cx="6272784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Managed PostgreSQL  •  Supabase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65192"/>
            <a:ext cx="10908792" cy="66751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965192"/>
            <a:ext cx="73152" cy="66751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29783"/>
            <a:ext cx="521207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6DD62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5120640"/>
            <a:ext cx="2926080" cy="33832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6F7F5"/>
                </a:solidFill>
                <a:latin typeface="Arial"/>
              </a:rPr>
              <a:t>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129783"/>
            <a:ext cx="6272784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Email / alerts  •  encrypted off-site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ROLLOUT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10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A CONTROLLED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Four gates before “go live”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Sequence infrastructure, data validation and operational rehearsal instead of switching everything on at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42032"/>
            <a:ext cx="2542032" cy="3136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42032"/>
            <a:ext cx="2542032" cy="109728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862072"/>
            <a:ext cx="777240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96DD62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694176"/>
            <a:ext cx="2103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05656"/>
            <a:ext cx="2075688" cy="11795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Confirm domains, provider accounts, roles and production secrets.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2542032"/>
            <a:ext cx="2542032" cy="3136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01568" y="2542032"/>
            <a:ext cx="2542032" cy="109728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79" y="2862072"/>
            <a:ext cx="777240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96DD62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3694176"/>
            <a:ext cx="2103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4105656"/>
            <a:ext cx="2075688" cy="11795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Migrate a copy, reconcile stock and test simultaneous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2542032"/>
            <a:ext cx="2542032" cy="3136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2542032"/>
            <a:ext cx="2542032" cy="109728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862072"/>
            <a:ext cx="777240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96DD62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694176"/>
            <a:ext cx="2103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REHEARSE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105656"/>
            <a:ext cx="2075688" cy="11795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Restore a backup; run a controlled order, POS sale and delivery.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2542032"/>
            <a:ext cx="2542032" cy="313639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3B4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24544" y="2542032"/>
            <a:ext cx="2542032" cy="109728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2862072"/>
            <a:ext cx="777240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96DD62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3694176"/>
            <a:ext cx="2103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4105656"/>
            <a:ext cx="2075688" cy="11795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6F7F5"/>
                </a:solidFill>
                <a:latin typeface="Arial"/>
              </a:rPr>
              <a:t>Deploy together, monitor transactions and keep a rollback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ONLINE COST  / 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11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MONTHLY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Cost of putting the system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Indicative monthly planning estimates in KES  •  based on stakeholder-supplied assumptions.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276856"/>
            <a:ext cx="3090672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377440"/>
            <a:ext cx="284378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COST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6472" y="2276856"/>
            <a:ext cx="2523744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377440"/>
            <a:ext cx="227685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TIER 1  / 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76856"/>
            <a:ext cx="2523744" cy="466344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377440"/>
            <a:ext cx="227685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E367"/>
                </a:solidFill>
                <a:latin typeface="Arial"/>
              </a:rPr>
              <a:t>TIER 2  /  RECOMMENDED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3688" y="2276856"/>
            <a:ext cx="2615184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2377440"/>
            <a:ext cx="236829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TIER 3  / 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76472" y="2743200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743200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3688" y="2743200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43784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Domain + SSL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834640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150–250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34640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5" y="2834640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36976"/>
            <a:ext cx="3090672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76472" y="3236976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236976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33688" y="3236976"/>
            <a:ext cx="261518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337560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Web app 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328416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0–650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328416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2,600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5" y="3328416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6,500–11,000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30752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76472" y="3730752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3730752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33688" y="3730752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831336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Managed 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822191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0–1,950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822191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3,250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5" y="3822191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9,750–15,000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24528"/>
            <a:ext cx="3090672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76472" y="4224528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224528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33688" y="4224528"/>
            <a:ext cx="261518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25112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Staff email + alerts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4315968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1,000–1,500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315968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2,500–4,500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3415" y="4315968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6,000–9,000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718304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6472" y="4718304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55080" y="4718304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33688" y="4718304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818888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Encrypted off-site backup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809744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4808" y="4809744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650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3415" y="4809744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6DD62"/>
                </a:solidFill>
                <a:latin typeface="Arial"/>
              </a:rPr>
              <a:t>KES 1,950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5221224"/>
            <a:ext cx="10908792" cy="585216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367528"/>
            <a:ext cx="2770632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MONTHLY TOTAL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5330952"/>
            <a:ext cx="2304287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AE367"/>
                </a:solidFill>
                <a:latin typeface="Arial"/>
              </a:rPr>
              <a:t>KES 1,150–4,350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4808" y="5330952"/>
            <a:ext cx="2304287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AE367"/>
                </a:solidFill>
                <a:latin typeface="Arial"/>
              </a:rPr>
              <a:t>KES 9,300–11,300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3415" y="5330952"/>
            <a:ext cx="2395728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AE367"/>
                </a:solidFill>
                <a:latin typeface="Arial"/>
              </a:rPr>
              <a:t>KES 24,700–37,450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" y="5916168"/>
            <a:ext cx="10789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7C1B3"/>
                </a:solidFill>
                <a:latin typeface="Arial"/>
              </a:rPr>
              <a:t>Totals are sums of the listed ranges; Tier 3 upper bound corrected from KES 38,450 to KES 37,450.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DD71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ONLINE COST  / 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3B493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1B3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DDD71"/>
                </a:solidFill>
                <a:latin typeface="Arial"/>
              </a:rPr>
              <a:t>12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24128"/>
            <a:ext cx="8229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6DD62"/>
                </a:solidFill>
                <a:latin typeface="Arial"/>
              </a:rPr>
              <a:t>YEARLY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10927080" cy="557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6F7F5"/>
                </a:solidFill>
                <a:latin typeface="Arial"/>
              </a:rPr>
              <a:t>The annual cost, item by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47088"/>
            <a:ext cx="10789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1B3"/>
                </a:solidFill>
                <a:latin typeface="Arial"/>
              </a:rPr>
              <a:t>Annualised from the monthly planning ranges: 12 × each listed component, in KES.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603504" cy="36576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276856"/>
            <a:ext cx="3090672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377440"/>
            <a:ext cx="2843784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COST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6472" y="2276856"/>
            <a:ext cx="2523744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377440"/>
            <a:ext cx="227685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TIER 1  / 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76856"/>
            <a:ext cx="2523744" cy="466344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377440"/>
            <a:ext cx="227685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E367"/>
                </a:solidFill>
                <a:latin typeface="Arial"/>
              </a:rPr>
              <a:t>TIER 2  /  RECOMMENDED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3688" y="2276856"/>
            <a:ext cx="2615184" cy="466344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2377440"/>
            <a:ext cx="2368296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F7F5"/>
                </a:solidFill>
                <a:latin typeface="Arial"/>
              </a:rPr>
              <a:t>TIER 3  / 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76472" y="2743200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743200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3688" y="2743200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43784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Domain + SSL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834640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1,800–3,000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34640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3,600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5" y="2834640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6,000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36976"/>
            <a:ext cx="3090672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76472" y="3236976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236976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33688" y="3236976"/>
            <a:ext cx="261518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337560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Web app 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328416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0–7,800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328416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31,200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5" y="3328416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78,000–132,000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30752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76472" y="3730752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3730752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33688" y="3730752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831336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Managed 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822191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0–23,400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822191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39,000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5" y="3822191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117,000–180,000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24528"/>
            <a:ext cx="3090672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76472" y="4224528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224528"/>
            <a:ext cx="252374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33688" y="4224528"/>
            <a:ext cx="2615184" cy="493776"/>
          </a:xfrm>
          <a:prstGeom prst="rect">
            <a:avLst/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25112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Staff email + alerts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4315968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12,000–18,000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315968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30,000–54,000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3415" y="4315968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72,000–108,000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718304"/>
            <a:ext cx="3090672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76472" y="4718304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55080" y="4718304"/>
            <a:ext cx="252374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33688" y="4718304"/>
            <a:ext cx="2615184" cy="493776"/>
          </a:xfrm>
          <a:prstGeom prst="rect">
            <a:avLst/>
          </a:prstGeom>
          <a:solidFill>
            <a:srgbClr val="10161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818888"/>
            <a:ext cx="2834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6F7F5"/>
                </a:solidFill>
                <a:latin typeface="Arial"/>
              </a:rPr>
              <a:t>Encrypted off-site backup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809744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4808" y="4809744"/>
            <a:ext cx="2304287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7,800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3415" y="4809744"/>
            <a:ext cx="2395728" cy="3017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6DD62"/>
                </a:solidFill>
                <a:latin typeface="Arial"/>
              </a:rPr>
              <a:t>KES 23,400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5221224"/>
            <a:ext cx="10908792" cy="585216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367528"/>
            <a:ext cx="2770632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YEARLY TOTAL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5330952"/>
            <a:ext cx="2304287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KES 13,800–52,200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4808" y="5330952"/>
            <a:ext cx="2304287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KES 111,600–135,600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3415" y="5330952"/>
            <a:ext cx="2395728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AE367"/>
                </a:solidFill>
                <a:latin typeface="Arial"/>
              </a:rPr>
              <a:t>KES 296,400–449,400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" y="5916168"/>
            <a:ext cx="10789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7C1B3"/>
                </a:solidFill>
                <a:latin typeface="Arial"/>
              </a:rPr>
              <a:t>Yearly totals use 12 months of service; Tier 3 upper bound follows the corrected monthly sum.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0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8B72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"/>
            <a:ext cx="841248" cy="539496"/>
          </a:xfrm>
          <a:prstGeom prst="rect">
            <a:avLst/>
          </a:prstGeom>
          <a:ln>
            <a:solidFill/>
          </a:ln>
        </p:spPr>
      </p:pic>
      <p:sp>
        <p:nvSpPr>
          <p:cNvPr id="5" name="TextBox 4"/>
          <p:cNvSpPr txBox="1"/>
          <p:nvPr/>
        </p:nvSpPr>
        <p:spPr>
          <a:xfrm>
            <a:off x="1527048" y="347472"/>
            <a:ext cx="3657600" cy="2834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SHILATECH  /  AUTO SPARES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93192"/>
            <a:ext cx="32461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ONLINE COST  /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786384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00232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62179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5A7"/>
                </a:solidFill>
                <a:latin typeface="Arial"/>
              </a:rPr>
              <a:t>CORPORATE PLATFORM OVERVIEW  • 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0528"/>
            <a:ext cx="731520" cy="2103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143000"/>
            <a:ext cx="67665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THE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99616"/>
            <a:ext cx="7863840" cy="1362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6F7F5"/>
                </a:solidFill>
                <a:latin typeface="Arial"/>
              </a:rPr>
              <a:t>Approve the corporate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F6F7F5"/>
                </a:solidFill>
                <a:latin typeface="Arial"/>
              </a:rPr>
              <a:t>production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09544"/>
            <a:ext cx="6894576" cy="1234440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6364224" cy="53035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9AE367"/>
                </a:solidFill>
                <a:latin typeface="Arial"/>
              </a:rPr>
              <a:t>KES 9,300–11,300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41063"/>
            <a:ext cx="6281928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6F7F5"/>
                </a:solidFill>
                <a:latin typeface="Arial"/>
              </a:rPr>
              <a:t>per month  /  ~KES 112k–136k per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2983" y="1344168"/>
            <a:ext cx="3630168" cy="4187952"/>
          </a:xfrm>
          <a:prstGeom prst="roundRect">
            <a:avLst>
              <a:gd name="adj" fmla="val 12000"/>
            </a:avLst>
          </a:prstGeom>
          <a:solidFill>
            <a:srgbClr val="101610"/>
          </a:solidFill>
          <a:ln w="12700">
            <a:solidFill>
              <a:srgbClr val="243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73352"/>
            <a:ext cx="3081528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NO PLATFORM LICENCE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975104"/>
            <a:ext cx="2935224" cy="51206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6F7F5"/>
                </a:solidFill>
                <a:latin typeface="Arial"/>
              </a:rPr>
              <a:t>KES 0 /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2670048"/>
            <a:ext cx="3026664" cy="10972"/>
          </a:xfrm>
          <a:prstGeom prst="rect">
            <a:avLst/>
          </a:prstGeom>
          <a:solidFill>
            <a:srgbClr val="243E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2935224"/>
            <a:ext cx="31089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AE367"/>
                </a:solidFill>
                <a:latin typeface="Arial"/>
              </a:rPr>
              <a:t>DARAJA STK PUSH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264408"/>
            <a:ext cx="2953512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7F5"/>
                </a:solidFill>
                <a:latin typeface="Arial"/>
              </a:rPr>
              <a:t>KES 0 setup  /  KES 0 monthly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087368"/>
            <a:ext cx="2971800" cy="9326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FDCD2"/>
                </a:solidFill>
                <a:latin typeface="Arial"/>
              </a:rPr>
              <a:t>Standard Paybill / Till transaction tariffs still apply.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00600"/>
            <a:ext cx="6894576" cy="722376"/>
          </a:xfrm>
          <a:prstGeom prst="roundRect">
            <a:avLst>
              <a:gd name="adj" fmla="val 12000"/>
            </a:avLst>
          </a:prstGeom>
          <a:solidFill>
            <a:srgbClr val="15191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983480"/>
            <a:ext cx="6409944" cy="35661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7F5"/>
                </a:solidFill>
                <a:latin typeface="Arial"/>
              </a:rPr>
              <a:t>NEXT  •  Confirm quotes  →  Validate backup restore  →  Rehearse a controlled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24144"/>
            <a:ext cx="10753344" cy="46634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3D0C2"/>
                </a:solidFill>
                <a:latin typeface="Arial"/>
              </a:rPr>
              <a:t>Budget assumptions, not vendor quotes. USD items use ~KES 130 / USD; confirm FX, tax, usage limits and provider terms.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3D0C2"/>
                </a:solidFill>
                <a:latin typeface="Arial"/>
              </a:rPr>
              <a:t>Payment transaction charges and implementation work are excluded; live gateway charging is not yet enabled.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Shilatech Auto Spares | Corporate Platform Overview</dc:title>
  <dc:subject>Platform capabilities, controlled launch and indicative monthly and yearly online costs</dc:subject>
  <dc:creator>Shilatech Auto Spares</dc:creator>
  <cp:keywords>Shilatech, auto spares, Kenya, hosting, budget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